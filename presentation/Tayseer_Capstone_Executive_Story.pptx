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Yousef Almutairi  (0:00–0:30)</a:t>
            </a:r>
          </a:p>
          <a:p/>
          <a:p>
            <a:r>
              <a:t>Open with the ask, inside 30 seconds:</a:t>
            </a:r>
          </a:p>
          <a:p>
            <a:r>
              <a:t>"We are asking you to approve SAR 40 million for four regions: Najran, Northern Borders, Al-Baha and Jazan. Nationally Tayseer is already above 65%, but these four regions will not reach it on their own any time soon. Najran alone would need almost two years. Our recommendation puts every riyal where the gap won't close by itself."</a:t>
            </a:r>
          </a:p>
          <a:p>
            <a:r>
              <a:t>Then hand over to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Yousef Almutairi  (0:30–1:15)</a:t>
            </a:r>
          </a:p>
          <a:p/>
          <a:p>
            <a:r>
              <a:t>Orient first: the line is national digital adoption by month, 2022 to 2025. The dashed orange line is the 65% target.</a:t>
            </a:r>
          </a:p>
          <a:p>
            <a:r>
              <a:t>Then the message: adoption rose steadily from 54.1% to 66.2%, about +2.9 points a year, and crossed 65% in August 2025.</a:t>
            </a:r>
          </a:p>
          <a:p>
            <a:r>
              <a:t>Transition: "If we stopped at the national number, we would say job done. But the average hides something."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Abdulwahab Alnassar  (1:15–2:00)</a:t>
            </a:r>
          </a:p>
          <a:p/>
          <a:p>
            <a:r>
              <a:t>Orient: each bar is a region's digital adoption in Dec 2025, sorted lowest to highest. Orange means below target, grey means on or above. The dashed line is 65%.</a:t>
            </a:r>
          </a:p>
          <a:p>
            <a:r>
              <a:t>Message: 8 of 13 regions are below target. Five large regions (Riyadh, Makkah, Eastern Province, Madinah, Qassim) pull the national average above 65%.</a:t>
            </a:r>
          </a:p>
          <a:p>
            <a:r>
              <a:t>Najran is lowest at 60.9%, more than 4 points short.</a:t>
            </a:r>
          </a:p>
          <a:p>
            <a:r>
              <a:t>Transition: "But not every orange bar is equally urgent, and that matters for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Abdulwahab Alnassar  (2:00–4:00)</a:t>
            </a:r>
          </a:p>
          <a:p/>
          <a:p>
            <a:r>
              <a:t>Orient: this chart shows only the 8 below-target regions. Bar length is the number of months each region needs to reach 65% if it keeps its 2025 pace. The labels show the gap in points and the monthly pace.</a:t>
            </a:r>
          </a:p>
          <a:p>
            <a:r>
              <a:t>Message 1: Al-Jouf, Hail, Tabuk and Asir are within 0.7 points and will cross within about 3 months. They don't need money.</a:t>
            </a:r>
          </a:p>
          <a:p>
            <a:r>
              <a:t>Message 2: Jazan, Al-Baha, Northern Borders and Najran need 7 to 21 months. Najran has the biggest gap AND the slowest pace (+0.19 pts/month), so it gets worse treatment from time, not better.</a:t>
            </a:r>
          </a:p>
          <a:p>
            <a:r>
              <a:t>Message 3 (box on the right): in these four regions, Complaints is the weakest service at 56.8% digital, against 62.1% nationally. That tells us what the money should fix.</a:t>
            </a:r>
          </a:p>
          <a:p>
            <a:r>
              <a:t>Method: 2025 pace = linear trend of the last 12 months; adoption is user-weighted, the same as the Tableau calculated field.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Firas Alnasser  (4:00–5:00)</a:t>
            </a:r>
          </a:p>
          <a:p/>
          <a:p>
            <a:r>
              <a:t>Walk through the three options left to right, using the same three questions for each.</a:t>
            </a:r>
          </a:p>
          <a:p>
            <a:r>
              <a:t>A, spread evenly across all 8 below-target regions at SAR 5M each: simple and seen as fair, but half the money goes to regions that cross 65% within about 3 months anyway, and Najran gets only SAR 5M.</a:t>
            </a:r>
          </a:p>
          <a:p>
            <a:r>
              <a:t>B, focus on the 4 structural laggers, weighted by the number of users that still need to switch: targets the real gap.</a:t>
            </a:r>
          </a:p>
          <a:p>
            <a:r>
              <a:t>C, one national channel-migration campaign: national is already at 66%, and most of the reach lands in large regions that are already above target.</a:t>
            </a:r>
          </a:p>
          <a:p>
            <a:r>
              <a:t>Transition: "So we recommend option 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Firas Alnasser  (5:00–6:15)</a:t>
            </a:r>
          </a:p>
          <a:p/>
          <a:p>
            <a:r>
              <a:t>Orient: left is the split; each region's share is proportional to the users who still need to switch to reach 65%.</a:t>
            </a:r>
          </a:p>
          <a:p>
            <a:r>
              <a:t>What the money buys: (1) digitise Complaints and Permits, the weakest journeys; (2) assisted-digital desks in branches, where adoption is lowest; (3) local awareness in these four regions.</a:t>
            </a:r>
          </a:p>
          <a:p>
            <a:r>
              <a:t>Expected effect: Najran must roughly double its pace, from +0.19 to +0.34 pts a month, to reach 65% by Dec 2026 instead of around Sep 2027. The other three reach it 3 to 6 months earlier than at today's pace.</a:t>
            </a:r>
          </a:p>
          <a:p>
            <a:r>
              <a:t>Side benefit: digital transactions cost about SAR 15, against SAR 24 for branch or call centre, and score higher on CSAT.</a:t>
            </a:r>
          </a:p>
          <a:p>
            <a:r>
              <a:t>Uncertainty, say it plainly: the data shows where the gap is, not how many points SAR 1M buys. That is why we stage the release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Firas Alnasser  (6:15–7:00)</a:t>
            </a:r>
          </a:p>
          <a:p/>
          <a:p>
            <a:r>
              <a:t>Restate the ask: "We ask you to approve SAR 40 million for Najran, Northern Borders, Al-Baha and Jazan: SAR 20 million now, and SAR 20 million in June 2026 if each region is at least halfway to 65%."</a:t>
            </a:r>
          </a:p>
          <a:p>
            <a:r>
              <a:t>The checkpoint values are on the slide and are tracked monthly on the Tableau dashboard.</a:t>
            </a:r>
          </a:p>
          <a:p>
            <a:r>
              <a:t>If a region misses its checkpoint, its second tranche is re-targeted, either to the region's weakest journey or to another region that is falling behind.</a:t>
            </a:r>
          </a:p>
          <a:p>
            <a:r>
              <a:t>Close: "Nationally we have hit 65%. This decision makes sure every region does."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BOTTOM LINE  ·  THE ASK</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Approve SAR 40M for four regions, Najran, Northern Borders, Al-Baha and Jazan, to close the last gap to 65%</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1 / 7</a:t>
            </a:r>
          </a:p>
        </p:txBody>
      </p:sp>
      <p:sp>
        <p:nvSpPr>
          <p:cNvPr id="7" name="Rectangle 6"/>
          <p:cNvSpPr/>
          <p:nvPr/>
        </p:nvSpPr>
        <p:spPr>
          <a:xfrm>
            <a:off x="502920" y="1828800"/>
            <a:ext cx="11201400" cy="1051560"/>
          </a:xfrm>
          <a:prstGeom prst="rect">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10789920" cy="914400"/>
          </a:xfrm>
          <a:prstGeom prst="rect">
            <a:avLst/>
          </a:prstGeom>
          <a:noFill/>
        </p:spPr>
        <p:txBody>
          <a:bodyPr wrap="square" anchor="ctr" lIns="45720" rIns="45720">
            <a:spAutoFit/>
          </a:bodyPr>
          <a:lstStyle/>
          <a:p>
            <a:pPr algn="l">
              <a:spcAft>
                <a:spcPts val="600"/>
              </a:spcAft>
            </a:pPr>
            <a:r>
              <a:rPr sz="1900" b="1">
                <a:solidFill>
                  <a:srgbClr val="E4572E"/>
                </a:solidFill>
                <a:latin typeface="Calibri"/>
              </a:rPr>
              <a:t>Big idea:  </a:t>
            </a:r>
            <a:r>
              <a:rPr sz="1900" b="0">
                <a:solidFill>
                  <a:srgbClr val="FFFFFF"/>
                </a:solidFill>
                <a:latin typeface="Calibri"/>
              </a:rPr>
              <a:t>The national 65% target is met, but four regions are stuck below it. Put the full SAR 40M into those four, so all four reach it by Dec 2026 instead of as late as 2027.</a:t>
            </a:r>
          </a:p>
        </p:txBody>
      </p:sp>
      <p:sp>
        <p:nvSpPr>
          <p:cNvPr id="9" name="Rectangle 8"/>
          <p:cNvSpPr/>
          <p:nvPr/>
        </p:nvSpPr>
        <p:spPr>
          <a:xfrm>
            <a:off x="50292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Najran</a:t>
            </a:r>
          </a:p>
        </p:txBody>
      </p:sp>
      <p:sp>
        <p:nvSpPr>
          <p:cNvPr id="11" name="TextBox 10"/>
          <p:cNvSpPr txBox="1"/>
          <p:nvPr/>
        </p:nvSpPr>
        <p:spPr>
          <a:xfrm>
            <a:off x="685800"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15M</a:t>
            </a:r>
          </a:p>
        </p:txBody>
      </p:sp>
      <p:sp>
        <p:nvSpPr>
          <p:cNvPr id="12" name="TextBox 11"/>
          <p:cNvSpPr txBox="1"/>
          <p:nvPr/>
        </p:nvSpPr>
        <p:spPr>
          <a:xfrm>
            <a:off x="685800"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60.9% today, gap 4.1 pts</a:t>
            </a:r>
          </a:p>
          <a:p>
            <a:pPr algn="l">
              <a:spcAft>
                <a:spcPts val="600"/>
              </a:spcAft>
            </a:pPr>
            <a:r>
              <a:rPr sz="1200" b="0">
                <a:solidFill>
                  <a:srgbClr val="6B7380"/>
                </a:solidFill>
                <a:latin typeface="Calibri"/>
              </a:rPr>
              <a:t>21 months to 65% at today's pace</a:t>
            </a:r>
          </a:p>
        </p:txBody>
      </p:sp>
      <p:sp>
        <p:nvSpPr>
          <p:cNvPr id="13" name="Rectangle 12"/>
          <p:cNvSpPr/>
          <p:nvPr/>
        </p:nvSpPr>
        <p:spPr>
          <a:xfrm>
            <a:off x="333756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Northern Borders</a:t>
            </a:r>
          </a:p>
        </p:txBody>
      </p:sp>
      <p:sp>
        <p:nvSpPr>
          <p:cNvPr id="15" name="TextBox 14"/>
          <p:cNvSpPr txBox="1"/>
          <p:nvPr/>
        </p:nvSpPr>
        <p:spPr>
          <a:xfrm>
            <a:off x="3520440"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9M</a:t>
            </a:r>
          </a:p>
        </p:txBody>
      </p:sp>
      <p:sp>
        <p:nvSpPr>
          <p:cNvPr id="16" name="TextBox 15"/>
          <p:cNvSpPr txBox="1"/>
          <p:nvPr/>
        </p:nvSpPr>
        <p:spPr>
          <a:xfrm>
            <a:off x="3520440"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62.7% today, gap 2.3 pts</a:t>
            </a:r>
          </a:p>
          <a:p>
            <a:pPr algn="l">
              <a:spcAft>
                <a:spcPts val="600"/>
              </a:spcAft>
            </a:pPr>
            <a:r>
              <a:rPr sz="1200" b="0">
                <a:solidFill>
                  <a:srgbClr val="6B7380"/>
                </a:solidFill>
                <a:latin typeface="Calibri"/>
              </a:rPr>
              <a:t>10 months to 65% at today's pace</a:t>
            </a:r>
          </a:p>
        </p:txBody>
      </p:sp>
      <p:sp>
        <p:nvSpPr>
          <p:cNvPr id="17" name="Rectangle 16"/>
          <p:cNvSpPr/>
          <p:nvPr/>
        </p:nvSpPr>
        <p:spPr>
          <a:xfrm>
            <a:off x="617220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Al-Baha</a:t>
            </a:r>
          </a:p>
        </p:txBody>
      </p:sp>
      <p:sp>
        <p:nvSpPr>
          <p:cNvPr id="19" name="TextBox 18"/>
          <p:cNvSpPr txBox="1"/>
          <p:nvPr/>
        </p:nvSpPr>
        <p:spPr>
          <a:xfrm>
            <a:off x="6355080"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8M</a:t>
            </a:r>
          </a:p>
        </p:txBody>
      </p:sp>
      <p:sp>
        <p:nvSpPr>
          <p:cNvPr id="20" name="TextBox 19"/>
          <p:cNvSpPr txBox="1"/>
          <p:nvPr/>
        </p:nvSpPr>
        <p:spPr>
          <a:xfrm>
            <a:off x="6355080"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62.8% today, gap 2.2 pts</a:t>
            </a:r>
          </a:p>
          <a:p>
            <a:pPr algn="l">
              <a:spcAft>
                <a:spcPts val="600"/>
              </a:spcAft>
            </a:pPr>
            <a:r>
              <a:rPr sz="1200" b="0">
                <a:solidFill>
                  <a:srgbClr val="6B7380"/>
                </a:solidFill>
                <a:latin typeface="Calibri"/>
              </a:rPr>
              <a:t>9 months to 65% at today's pace</a:t>
            </a:r>
          </a:p>
        </p:txBody>
      </p:sp>
      <p:sp>
        <p:nvSpPr>
          <p:cNvPr id="21" name="Rectangle 20"/>
          <p:cNvSpPr/>
          <p:nvPr/>
        </p:nvSpPr>
        <p:spPr>
          <a:xfrm>
            <a:off x="9006840" y="3246120"/>
            <a:ext cx="2697480" cy="2377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19" y="3383280"/>
            <a:ext cx="2377440" cy="365760"/>
          </a:xfrm>
          <a:prstGeom prst="rect">
            <a:avLst/>
          </a:prstGeom>
          <a:noFill/>
        </p:spPr>
        <p:txBody>
          <a:bodyPr wrap="square" anchor="t" lIns="45720" rIns="45720">
            <a:spAutoFit/>
          </a:bodyPr>
          <a:lstStyle/>
          <a:p>
            <a:pPr algn="l">
              <a:spcAft>
                <a:spcPts val="600"/>
              </a:spcAft>
            </a:pPr>
            <a:r>
              <a:rPr sz="1600" b="1">
                <a:solidFill>
                  <a:srgbClr val="1B2A41"/>
                </a:solidFill>
                <a:latin typeface="Calibri"/>
              </a:rPr>
              <a:t>Jazan</a:t>
            </a:r>
          </a:p>
        </p:txBody>
      </p:sp>
      <p:sp>
        <p:nvSpPr>
          <p:cNvPr id="23" name="TextBox 22"/>
          <p:cNvSpPr txBox="1"/>
          <p:nvPr/>
        </p:nvSpPr>
        <p:spPr>
          <a:xfrm>
            <a:off x="9189719" y="3794760"/>
            <a:ext cx="2377440" cy="731520"/>
          </a:xfrm>
          <a:prstGeom prst="rect">
            <a:avLst/>
          </a:prstGeom>
          <a:noFill/>
        </p:spPr>
        <p:txBody>
          <a:bodyPr wrap="square" anchor="t" lIns="45720" rIns="45720">
            <a:spAutoFit/>
          </a:bodyPr>
          <a:lstStyle/>
          <a:p>
            <a:pPr algn="l">
              <a:spcAft>
                <a:spcPts val="600"/>
              </a:spcAft>
            </a:pPr>
            <a:r>
              <a:rPr sz="3400" b="1">
                <a:solidFill>
                  <a:srgbClr val="E4572E"/>
                </a:solidFill>
                <a:latin typeface="Calibri"/>
              </a:rPr>
              <a:t>SAR 8M</a:t>
            </a:r>
          </a:p>
        </p:txBody>
      </p:sp>
      <p:sp>
        <p:nvSpPr>
          <p:cNvPr id="24" name="TextBox 23"/>
          <p:cNvSpPr txBox="1"/>
          <p:nvPr/>
        </p:nvSpPr>
        <p:spPr>
          <a:xfrm>
            <a:off x="9189719" y="4572000"/>
            <a:ext cx="2377440" cy="100584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63.0% today, gap 2.0 pts</a:t>
            </a:r>
          </a:p>
          <a:p>
            <a:pPr algn="l">
              <a:spcAft>
                <a:spcPts val="600"/>
              </a:spcAft>
            </a:pPr>
            <a:r>
              <a:rPr sz="1200" b="0">
                <a:solidFill>
                  <a:srgbClr val="6B7380"/>
                </a:solidFill>
                <a:latin typeface="Calibri"/>
              </a:rPr>
              <a:t>7 months to 65% at today's pace</a:t>
            </a:r>
          </a:p>
        </p:txBody>
      </p:sp>
      <p:sp>
        <p:nvSpPr>
          <p:cNvPr id="25" name="TextBox 24"/>
          <p:cNvSpPr txBox="1"/>
          <p:nvPr/>
        </p:nvSpPr>
        <p:spPr>
          <a:xfrm>
            <a:off x="502920" y="5806440"/>
            <a:ext cx="11155680" cy="457200"/>
          </a:xfrm>
          <a:prstGeom prst="rect">
            <a:avLst/>
          </a:prstGeom>
          <a:noFill/>
        </p:spPr>
        <p:txBody>
          <a:bodyPr wrap="square" anchor="t" lIns="45720" rIns="45720">
            <a:spAutoFit/>
          </a:bodyPr>
          <a:lstStyle/>
          <a:p>
            <a:pPr algn="l">
              <a:spcAft>
                <a:spcPts val="600"/>
              </a:spcAft>
            </a:pPr>
            <a:r>
              <a:rPr sz="1500" b="1">
                <a:solidFill>
                  <a:srgbClr val="E4572E"/>
                </a:solidFill>
                <a:latin typeface="Calibri"/>
              </a:rPr>
              <a:t>Decision requested today:  </a:t>
            </a:r>
            <a:r>
              <a:rPr sz="1500" b="0">
                <a:solidFill>
                  <a:srgbClr val="1B2A41"/>
                </a:solidFill>
                <a:latin typeface="Calibri"/>
              </a:rPr>
              <a:t>release SAR 20M now and SAR 20M after a June 2026 checkpoint.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SITUATION  ·  NATIONAL STATUS</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Nationally, Tayseer is on track: 66.2% digital adoption, above 65% since August 2025</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2 / 7</a:t>
            </a:r>
          </a:p>
        </p:txBody>
      </p:sp>
      <p:pic>
        <p:nvPicPr>
          <p:cNvPr id="7" name="Picture 6" descr="01_national_trend.png"/>
          <p:cNvPicPr>
            <a:picLocks noChangeAspect="1"/>
          </p:cNvPicPr>
          <p:nvPr/>
        </p:nvPicPr>
        <p:blipFill>
          <a:blip r:embed="rId3"/>
          <a:stretch>
            <a:fillRect/>
          </a:stretch>
        </p:blipFill>
        <p:spPr>
          <a:xfrm>
            <a:off x="502920" y="1783080"/>
            <a:ext cx="8503920" cy="3428260"/>
          </a:xfrm>
          <a:prstGeom prst="rect">
            <a:avLst/>
          </a:prstGeom>
        </p:spPr>
      </p:pic>
      <p:sp>
        <p:nvSpPr>
          <p:cNvPr id="8" name="Rectangle 7"/>
          <p:cNvSpPr/>
          <p:nvPr/>
        </p:nvSpPr>
        <p:spPr>
          <a:xfrm>
            <a:off x="9326880" y="1828800"/>
            <a:ext cx="2423160" cy="1234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64040" y="1920240"/>
            <a:ext cx="2148840" cy="640080"/>
          </a:xfrm>
          <a:prstGeom prst="rect">
            <a:avLst/>
          </a:prstGeom>
          <a:noFill/>
        </p:spPr>
        <p:txBody>
          <a:bodyPr wrap="square" anchor="t" lIns="45720" rIns="45720">
            <a:spAutoFit/>
          </a:bodyPr>
          <a:lstStyle/>
          <a:p>
            <a:pPr algn="l">
              <a:spcAft>
                <a:spcPts val="600"/>
              </a:spcAft>
            </a:pPr>
            <a:r>
              <a:rPr sz="3000" b="1">
                <a:solidFill>
                  <a:srgbClr val="1B2A41"/>
                </a:solidFill>
                <a:latin typeface="Calibri"/>
              </a:rPr>
              <a:t>66.2%</a:t>
            </a:r>
          </a:p>
        </p:txBody>
      </p:sp>
      <p:sp>
        <p:nvSpPr>
          <p:cNvPr id="10" name="TextBox 9"/>
          <p:cNvSpPr txBox="1"/>
          <p:nvPr/>
        </p:nvSpPr>
        <p:spPr>
          <a:xfrm>
            <a:off x="9464040" y="2542032"/>
            <a:ext cx="2148840" cy="50292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National adoption, Dec 2025</a:t>
            </a:r>
          </a:p>
        </p:txBody>
      </p:sp>
      <p:sp>
        <p:nvSpPr>
          <p:cNvPr id="11" name="Rectangle 10"/>
          <p:cNvSpPr/>
          <p:nvPr/>
        </p:nvSpPr>
        <p:spPr>
          <a:xfrm>
            <a:off x="9326880" y="3246120"/>
            <a:ext cx="2423160" cy="1234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64040" y="3337560"/>
            <a:ext cx="2148840" cy="640080"/>
          </a:xfrm>
          <a:prstGeom prst="rect">
            <a:avLst/>
          </a:prstGeom>
          <a:noFill/>
        </p:spPr>
        <p:txBody>
          <a:bodyPr wrap="square" anchor="t" lIns="45720" rIns="45720">
            <a:spAutoFit/>
          </a:bodyPr>
          <a:lstStyle/>
          <a:p>
            <a:pPr algn="l">
              <a:spcAft>
                <a:spcPts val="600"/>
              </a:spcAft>
            </a:pPr>
            <a:r>
              <a:rPr sz="3000" b="1">
                <a:solidFill>
                  <a:srgbClr val="2E8B57"/>
                </a:solidFill>
                <a:latin typeface="Calibri"/>
              </a:rPr>
              <a:t>+2.9 pts</a:t>
            </a:r>
          </a:p>
        </p:txBody>
      </p:sp>
      <p:sp>
        <p:nvSpPr>
          <p:cNvPr id="13" name="TextBox 12"/>
          <p:cNvSpPr txBox="1"/>
          <p:nvPr/>
        </p:nvSpPr>
        <p:spPr>
          <a:xfrm>
            <a:off x="9464040" y="3959352"/>
            <a:ext cx="2148840" cy="50292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Change vs Dec 2024</a:t>
            </a:r>
          </a:p>
        </p:txBody>
      </p:sp>
      <p:sp>
        <p:nvSpPr>
          <p:cNvPr id="14" name="Rectangle 13"/>
          <p:cNvSpPr/>
          <p:nvPr/>
        </p:nvSpPr>
        <p:spPr>
          <a:xfrm>
            <a:off x="9326880" y="4663440"/>
            <a:ext cx="2423160" cy="1234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64040" y="4754879"/>
            <a:ext cx="2148840" cy="640080"/>
          </a:xfrm>
          <a:prstGeom prst="rect">
            <a:avLst/>
          </a:prstGeom>
          <a:noFill/>
        </p:spPr>
        <p:txBody>
          <a:bodyPr wrap="square" anchor="t" lIns="45720" rIns="45720">
            <a:spAutoFit/>
          </a:bodyPr>
          <a:lstStyle/>
          <a:p>
            <a:pPr algn="l">
              <a:spcAft>
                <a:spcPts val="600"/>
              </a:spcAft>
            </a:pPr>
            <a:r>
              <a:rPr sz="3000" b="1">
                <a:solidFill>
                  <a:srgbClr val="1B2A41"/>
                </a:solidFill>
                <a:latin typeface="Calibri"/>
              </a:rPr>
              <a:t>Aug 2025</a:t>
            </a:r>
          </a:p>
        </p:txBody>
      </p:sp>
      <p:sp>
        <p:nvSpPr>
          <p:cNvPr id="16" name="TextBox 15"/>
          <p:cNvSpPr txBox="1"/>
          <p:nvPr/>
        </p:nvSpPr>
        <p:spPr>
          <a:xfrm>
            <a:off x="9464040" y="5376672"/>
            <a:ext cx="2148840" cy="502920"/>
          </a:xfrm>
          <a:prstGeom prst="rect">
            <a:avLst/>
          </a:prstGeom>
          <a:noFill/>
        </p:spPr>
        <p:txBody>
          <a:bodyPr wrap="square" anchor="t" lIns="45720" rIns="45720">
            <a:spAutoFit/>
          </a:bodyPr>
          <a:lstStyle/>
          <a:p>
            <a:pPr algn="l">
              <a:spcAft>
                <a:spcPts val="600"/>
              </a:spcAft>
            </a:pPr>
            <a:r>
              <a:rPr sz="1200" b="0">
                <a:solidFill>
                  <a:srgbClr val="6B7380"/>
                </a:solidFill>
                <a:latin typeface="Calibri"/>
              </a:rPr>
              <a:t>Month the 65% target was crossed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COMPLICATION  ·  REGIONAL GAP</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But 8 of 13 regions are still below 65%, and the national average hides them</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3 / 7</a:t>
            </a:r>
          </a:p>
        </p:txBody>
      </p:sp>
      <p:pic>
        <p:nvPicPr>
          <p:cNvPr id="7" name="Picture 6" descr="02_regional_adoption.png"/>
          <p:cNvPicPr>
            <a:picLocks noChangeAspect="1"/>
          </p:cNvPicPr>
          <p:nvPr/>
        </p:nvPicPr>
        <p:blipFill>
          <a:blip r:embed="rId3"/>
          <a:stretch>
            <a:fillRect/>
          </a:stretch>
        </p:blipFill>
        <p:spPr>
          <a:xfrm>
            <a:off x="502920" y="1691640"/>
            <a:ext cx="8686120" cy="4617720"/>
          </a:xfrm>
          <a:prstGeom prst="rect">
            <a:avLst/>
          </a:prstGeom>
        </p:spPr>
      </p:pic>
      <p:sp>
        <p:nvSpPr>
          <p:cNvPr id="8" name="TextBox 7"/>
          <p:cNvSpPr txBox="1"/>
          <p:nvPr/>
        </p:nvSpPr>
        <p:spPr>
          <a:xfrm>
            <a:off x="9052560" y="2011680"/>
            <a:ext cx="2743200" cy="4114800"/>
          </a:xfrm>
          <a:prstGeom prst="rect">
            <a:avLst/>
          </a:prstGeom>
          <a:noFill/>
        </p:spPr>
        <p:txBody>
          <a:bodyPr wrap="square" anchor="t" lIns="45720" rIns="45720">
            <a:spAutoFit/>
          </a:bodyPr>
          <a:lstStyle/>
          <a:p>
            <a:pPr algn="l">
              <a:spcAft>
                <a:spcPts val="600"/>
              </a:spcAft>
            </a:pPr>
            <a:r>
              <a:rPr sz="3000" b="1">
                <a:solidFill>
                  <a:srgbClr val="E4572E"/>
                </a:solidFill>
                <a:latin typeface="Calibri"/>
              </a:rPr>
              <a:t>8 regions</a:t>
            </a:r>
          </a:p>
          <a:p>
            <a:pPr algn="l">
              <a:spcAft>
                <a:spcPts val="600"/>
              </a:spcAft>
            </a:pPr>
            <a:r>
              <a:rPr sz="1400" b="0">
                <a:solidFill>
                  <a:srgbClr val="6B7380"/>
                </a:solidFill>
                <a:latin typeface="Calibri"/>
              </a:rPr>
              <a:t>below the 65% target in Dec 2025</a:t>
            </a:r>
          </a:p>
          <a:p>
            <a:pPr algn="l">
              <a:spcAft>
                <a:spcPts val="600"/>
              </a:spcAft>
            </a:pPr>
            <a:r>
              <a:rPr sz="1400" b="0">
                <a:solidFill>
                  <a:srgbClr val="6B7380"/>
                </a:solidFill>
                <a:latin typeface="Calibri"/>
              </a:rPr>
              <a:t/>
            </a:r>
          </a:p>
          <a:p>
            <a:pPr algn="l">
              <a:spcAft>
                <a:spcPts val="600"/>
              </a:spcAft>
            </a:pPr>
            <a:r>
              <a:rPr sz="3000" b="1">
                <a:solidFill>
                  <a:srgbClr val="E4572E"/>
                </a:solidFill>
                <a:latin typeface="Calibri"/>
              </a:rPr>
              <a:t>60.9%</a:t>
            </a:r>
          </a:p>
          <a:p>
            <a:pPr algn="l">
              <a:spcAft>
                <a:spcPts val="600"/>
              </a:spcAft>
            </a:pPr>
            <a:r>
              <a:rPr sz="1400" b="0">
                <a:solidFill>
                  <a:srgbClr val="6B7380"/>
                </a:solidFill>
                <a:latin typeface="Calibri"/>
              </a:rPr>
              <a:t>Najran, the lowest region, is 4.1 pts short</a:t>
            </a:r>
          </a:p>
          <a:p>
            <a:pPr algn="l">
              <a:spcAft>
                <a:spcPts val="600"/>
              </a:spcAft>
            </a:pPr>
            <a:r>
              <a:rPr sz="1400" b="0">
                <a:solidFill>
                  <a:srgbClr val="6B7380"/>
                </a:solidFill>
                <a:latin typeface="Calibri"/>
              </a:rPr>
              <a:t/>
            </a:r>
          </a:p>
          <a:p>
            <a:pPr algn="l">
              <a:spcAft>
                <a:spcPts val="600"/>
              </a:spcAft>
            </a:pPr>
            <a:r>
              <a:rPr sz="3000" b="1">
                <a:solidFill>
                  <a:srgbClr val="6B7380"/>
                </a:solidFill>
                <a:latin typeface="Calibri"/>
              </a:rPr>
              <a:t>5 regions</a:t>
            </a:r>
          </a:p>
          <a:p>
            <a:pPr algn="l">
              <a:spcAft>
                <a:spcPts val="600"/>
              </a:spcAft>
            </a:pPr>
            <a:r>
              <a:rPr sz="1400" b="0">
                <a:solidFill>
                  <a:srgbClr val="6B7380"/>
                </a:solidFill>
                <a:latin typeface="Calibri"/>
              </a:rPr>
              <a:t>carry the national average above target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EVIDENCE  ·  WHICH GAPS MATTER</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Four regions will close the gap on their own within 3 months; four will not, and Najran needs 21</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4 / 7</a:t>
            </a:r>
          </a:p>
        </p:txBody>
      </p:sp>
      <p:pic>
        <p:nvPicPr>
          <p:cNvPr id="7" name="Picture 6" descr="03_months_to_target.png"/>
          <p:cNvPicPr>
            <a:picLocks noChangeAspect="1"/>
          </p:cNvPicPr>
          <p:nvPr/>
        </p:nvPicPr>
        <p:blipFill>
          <a:blip r:embed="rId3"/>
          <a:stretch>
            <a:fillRect/>
          </a:stretch>
        </p:blipFill>
        <p:spPr>
          <a:xfrm>
            <a:off x="502920" y="1691640"/>
            <a:ext cx="8229600" cy="4106668"/>
          </a:xfrm>
          <a:prstGeom prst="rect">
            <a:avLst/>
          </a:prstGeom>
        </p:spPr>
      </p:pic>
      <p:sp>
        <p:nvSpPr>
          <p:cNvPr id="8" name="Rectangle 7"/>
          <p:cNvSpPr/>
          <p:nvPr/>
        </p:nvSpPr>
        <p:spPr>
          <a:xfrm>
            <a:off x="9006840" y="1828800"/>
            <a:ext cx="2743200" cy="4206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20" y="1965960"/>
            <a:ext cx="2423160" cy="4023360"/>
          </a:xfrm>
          <a:prstGeom prst="rect">
            <a:avLst/>
          </a:prstGeom>
          <a:noFill/>
        </p:spPr>
        <p:txBody>
          <a:bodyPr wrap="square" anchor="t" lIns="45720" rIns="45720">
            <a:spAutoFit/>
          </a:bodyPr>
          <a:lstStyle/>
          <a:p>
            <a:pPr algn="l">
              <a:spcAft>
                <a:spcPts val="600"/>
              </a:spcAft>
            </a:pPr>
            <a:r>
              <a:rPr sz="1500" b="1">
                <a:solidFill>
                  <a:srgbClr val="6B7380"/>
                </a:solidFill>
                <a:latin typeface="Calibri"/>
              </a:rPr>
              <a:t>Where the gap sits</a:t>
            </a:r>
          </a:p>
          <a:p>
            <a:pPr algn="l">
              <a:spcAft>
                <a:spcPts val="600"/>
              </a:spcAft>
            </a:pPr>
            <a:r>
              <a:rPr sz="3000" b="1">
                <a:solidFill>
                  <a:srgbClr val="E4572E"/>
                </a:solidFill>
                <a:latin typeface="Calibri"/>
              </a:rPr>
              <a:t>56.8%</a:t>
            </a:r>
          </a:p>
          <a:p>
            <a:pPr algn="l">
              <a:spcAft>
                <a:spcPts val="600"/>
              </a:spcAft>
            </a:pPr>
            <a:r>
              <a:rPr sz="1300" b="0">
                <a:solidFill>
                  <a:srgbClr val="6B7380"/>
                </a:solidFill>
                <a:latin typeface="Calibri"/>
              </a:rPr>
              <a:t>Complaints digital adoption in the 4 priority regions (national: 62.1%)</a:t>
            </a:r>
          </a:p>
          <a:p>
            <a:pPr algn="l">
              <a:spcAft>
                <a:spcPts val="600"/>
              </a:spcAft>
            </a:pPr>
            <a:r>
              <a:rPr sz="1300" b="0">
                <a:solidFill>
                  <a:srgbClr val="6B7380"/>
                </a:solidFill>
                <a:latin typeface="Calibri"/>
              </a:rPr>
              <a:t/>
            </a:r>
          </a:p>
          <a:p>
            <a:pPr algn="l">
              <a:spcAft>
                <a:spcPts val="600"/>
              </a:spcAft>
            </a:pPr>
            <a:r>
              <a:rPr sz="2200" b="1">
                <a:solidFill>
                  <a:srgbClr val="6B7380"/>
                </a:solidFill>
                <a:latin typeface="Calibri"/>
              </a:rPr>
              <a:t>All 8</a:t>
            </a:r>
          </a:p>
          <a:p>
            <a:pPr algn="l">
              <a:spcAft>
                <a:spcPts val="600"/>
              </a:spcAft>
            </a:pPr>
            <a:r>
              <a:rPr sz="1300" b="0">
                <a:solidFill>
                  <a:srgbClr val="6B7380"/>
                </a:solidFill>
                <a:latin typeface="Calibri"/>
              </a:rPr>
              <a:t>service categories in these regions trail the national rate by 3–5 pts, so the problem is regional, not one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OPTIONS  ·  HOW TO USE SAR 40M</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We compared three ways to spend SAR 40M; only one aims every riyal at a gap that won't close by itself</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5 / 7</a:t>
            </a:r>
          </a:p>
        </p:txBody>
      </p:sp>
      <p:graphicFrame>
        <p:nvGraphicFramePr>
          <p:cNvPr id="7" name="Table 6"/>
          <p:cNvGraphicFramePr>
            <a:graphicFrameLocks noGrp="1"/>
          </p:cNvGraphicFramePr>
          <p:nvPr/>
        </p:nvGraphicFramePr>
        <p:xfrm>
          <a:off x="502920" y="1783080"/>
          <a:ext cx="11201400" cy="4517136"/>
        </p:xfrm>
        <a:graphic>
          <a:graphicData uri="http://schemas.openxmlformats.org/drawingml/2006/table">
            <a:tbl>
              <a:tblPr firstRow="1" bandRow="1">
                <a:tableStyleId>{5C22544A-7EE6-4342-B048-85BDC9FD1C3A}</a:tableStyleId>
              </a:tblPr>
              <a:tblGrid>
                <a:gridCol w="2377440"/>
                <a:gridCol w="2926080"/>
                <a:gridCol w="2971800"/>
                <a:gridCol w="2926080"/>
              </a:tblGrid>
              <a:tr h="859536">
                <a:tc>
                  <a:txBody>
                    <a:bodyPr/>
                    <a:lstStyle/>
                    <a:p>
                      <a:r>
                        <a:rPr sz="1400" b="1">
                          <a:solidFill>
                            <a:srgbClr val="FFFFFF"/>
                          </a:solidFill>
                          <a:latin typeface="Calibri"/>
                        </a:rPr>
                        <a:t>Criteria</a:t>
                      </a:r>
                    </a:p>
                  </a:txBody>
                  <a:tcPr anchor="ctr">
                    <a:solidFill>
                      <a:srgbClr val="1B2A41"/>
                    </a:solidFill>
                  </a:tcPr>
                </a:tc>
                <a:tc>
                  <a:txBody>
                    <a:bodyPr/>
                    <a:lstStyle/>
                    <a:p>
                      <a:r>
                        <a:rPr sz="1400" b="1">
                          <a:solidFill>
                            <a:srgbClr val="FFFFFF"/>
                          </a:solidFill>
                          <a:latin typeface="Calibri"/>
                        </a:rPr>
                        <a:t>A · Spread evenly</a:t>
                      </a:r>
                    </a:p>
                  </a:txBody>
                  <a:tcPr anchor="ctr">
                    <a:solidFill>
                      <a:srgbClr val="1B2A41"/>
                    </a:solidFill>
                  </a:tcPr>
                </a:tc>
                <a:tc>
                  <a:txBody>
                    <a:bodyPr/>
                    <a:lstStyle/>
                    <a:p>
                      <a:r>
                        <a:rPr sz="1400" b="1">
                          <a:solidFill>
                            <a:srgbClr val="FFFFFF"/>
                          </a:solidFill>
                          <a:latin typeface="Calibri"/>
                        </a:rPr>
                        <a:t>B · Focus on 4 laggers</a:t>
                      </a:r>
                    </a:p>
                  </a:txBody>
                  <a:tcPr anchor="ctr">
                    <a:solidFill>
                      <a:srgbClr val="E4572E"/>
                    </a:solidFill>
                  </a:tcPr>
                </a:tc>
                <a:tc>
                  <a:txBody>
                    <a:bodyPr/>
                    <a:lstStyle/>
                    <a:p>
                      <a:r>
                        <a:rPr sz="1400" b="1">
                          <a:solidFill>
                            <a:srgbClr val="FFFFFF"/>
                          </a:solidFill>
                          <a:latin typeface="Calibri"/>
                        </a:rPr>
                        <a:t>C · National campaign</a:t>
                      </a:r>
                    </a:p>
                  </a:txBody>
                  <a:tcPr anchor="ctr">
                    <a:solidFill>
                      <a:srgbClr val="1B2A41"/>
                    </a:solidFill>
                  </a:tcPr>
                </a:tc>
              </a:tr>
              <a:tr h="914400">
                <a:tc>
                  <a:txBody>
                    <a:bodyPr/>
                    <a:lstStyle/>
                    <a:p>
                      <a:r>
                        <a:rPr sz="1300" b="1">
                          <a:solidFill>
                            <a:srgbClr val="1B2A41"/>
                          </a:solidFill>
                          <a:latin typeface="Calibri"/>
                        </a:rPr>
                        <a:t>What it is</a:t>
                      </a:r>
                    </a:p>
                  </a:txBody>
                  <a:tcPr anchor="ctr">
                    <a:solidFill>
                      <a:srgbClr val="F2F4F7"/>
                    </a:solidFill>
                  </a:tcPr>
                </a:tc>
                <a:tc>
                  <a:txBody>
                    <a:bodyPr/>
                    <a:lstStyle/>
                    <a:p>
                      <a:r>
                        <a:rPr sz="1300" b="0">
                          <a:solidFill>
                            <a:srgbClr val="1B2A41"/>
                          </a:solidFill>
                          <a:latin typeface="Calibri"/>
                        </a:rPr>
                        <a:t>SAR 5M to each of the 8 regions below 65%</a:t>
                      </a:r>
                    </a:p>
                  </a:txBody>
                  <a:tcPr anchor="ctr">
                    <a:solidFill>
                      <a:srgbClr val="F2F4F7"/>
                    </a:solidFill>
                  </a:tcPr>
                </a:tc>
                <a:tc>
                  <a:txBody>
                    <a:bodyPr/>
                    <a:lstStyle/>
                    <a:p>
                      <a:r>
                        <a:rPr sz="1300" b="0">
                          <a:solidFill>
                            <a:srgbClr val="1B2A41"/>
                          </a:solidFill>
                          <a:latin typeface="Calibri"/>
                        </a:rPr>
                        <a:t>SAR 40M split across Najran, N. Borders, Al-Baha, Jazan by gap size</a:t>
                      </a:r>
                    </a:p>
                  </a:txBody>
                  <a:tcPr anchor="ctr">
                    <a:solidFill>
                      <a:srgbClr val="FDECE6"/>
                    </a:solidFill>
                  </a:tcPr>
                </a:tc>
                <a:tc>
                  <a:txBody>
                    <a:bodyPr/>
                    <a:lstStyle/>
                    <a:p>
                      <a:r>
                        <a:rPr sz="1300" b="0">
                          <a:solidFill>
                            <a:srgbClr val="1B2A41"/>
                          </a:solidFill>
                          <a:latin typeface="Calibri"/>
                        </a:rPr>
                        <a:t>One national push to move branch &amp; call-centre users to app/web</a:t>
                      </a:r>
                    </a:p>
                  </a:txBody>
                  <a:tcPr anchor="ctr">
                    <a:solidFill>
                      <a:srgbClr val="F2F4F7"/>
                    </a:solidFill>
                  </a:tcPr>
                </a:tc>
              </a:tr>
              <a:tr h="914400">
                <a:tc>
                  <a:txBody>
                    <a:bodyPr/>
                    <a:lstStyle/>
                    <a:p>
                      <a:r>
                        <a:rPr sz="1300" b="1">
                          <a:solidFill>
                            <a:srgbClr val="1B2A41"/>
                          </a:solidFill>
                          <a:latin typeface="Calibri"/>
                        </a:rPr>
                        <a:t>Hits the gap that won't self-close?</a:t>
                      </a:r>
                    </a:p>
                  </a:txBody>
                  <a:tcPr anchor="ctr">
                    <a:solidFill>
                      <a:srgbClr val="FFFFFF"/>
                    </a:solidFill>
                  </a:tcPr>
                </a:tc>
                <a:tc>
                  <a:txBody>
                    <a:bodyPr/>
                    <a:lstStyle/>
                    <a:p>
                      <a:r>
                        <a:rPr sz="1300" b="0">
                          <a:solidFill>
                            <a:srgbClr val="1B2A41"/>
                          </a:solidFill>
                          <a:latin typeface="Calibri"/>
                        </a:rPr>
                        <a:t>Half: SAR 20M goes to regions closing in ≤3 months</a:t>
                      </a:r>
                    </a:p>
                  </a:txBody>
                  <a:tcPr anchor="ctr">
                    <a:solidFill>
                      <a:srgbClr val="FFFFFF"/>
                    </a:solidFill>
                  </a:tcPr>
                </a:tc>
                <a:tc>
                  <a:txBody>
                    <a:bodyPr/>
                    <a:lstStyle/>
                    <a:p>
                      <a:r>
                        <a:rPr sz="1300" b="0">
                          <a:solidFill>
                            <a:srgbClr val="1B2A41"/>
                          </a:solidFill>
                          <a:latin typeface="Calibri"/>
                        </a:rPr>
                        <a:t>Yes: 100% to regions needing 7–21 months</a:t>
                      </a:r>
                    </a:p>
                  </a:txBody>
                  <a:tcPr anchor="ctr">
                    <a:solidFill>
                      <a:srgbClr val="FDECE6"/>
                    </a:solidFill>
                  </a:tcPr>
                </a:tc>
                <a:tc>
                  <a:txBody>
                    <a:bodyPr/>
                    <a:lstStyle/>
                    <a:p>
                      <a:r>
                        <a:rPr sz="1300" b="0">
                          <a:solidFill>
                            <a:srgbClr val="1B2A41"/>
                          </a:solidFill>
                          <a:latin typeface="Calibri"/>
                        </a:rPr>
                        <a:t>Mostly not: reach is driven by large, on-target regions</a:t>
                      </a:r>
                    </a:p>
                  </a:txBody>
                  <a:tcPr anchor="ctr">
                    <a:solidFill>
                      <a:srgbClr val="FFFFFF"/>
                    </a:solidFill>
                  </a:tcPr>
                </a:tc>
              </a:tr>
              <a:tr h="914400">
                <a:tc>
                  <a:txBody>
                    <a:bodyPr/>
                    <a:lstStyle/>
                    <a:p>
                      <a:r>
                        <a:rPr sz="1300" b="1">
                          <a:solidFill>
                            <a:srgbClr val="1B2A41"/>
                          </a:solidFill>
                          <a:latin typeface="Calibri"/>
                        </a:rPr>
                        <a:t>Najran funding</a:t>
                      </a:r>
                    </a:p>
                  </a:txBody>
                  <a:tcPr anchor="ctr">
                    <a:solidFill>
                      <a:srgbClr val="F2F4F7"/>
                    </a:solidFill>
                  </a:tcPr>
                </a:tc>
                <a:tc>
                  <a:txBody>
                    <a:bodyPr/>
                    <a:lstStyle/>
                    <a:p>
                      <a:r>
                        <a:rPr sz="1300" b="0">
                          <a:solidFill>
                            <a:srgbClr val="1B2A41"/>
                          </a:solidFill>
                          <a:latin typeface="Calibri"/>
                        </a:rPr>
                        <a:t>SAR 5M</a:t>
                      </a:r>
                    </a:p>
                  </a:txBody>
                  <a:tcPr anchor="ctr">
                    <a:solidFill>
                      <a:srgbClr val="F2F4F7"/>
                    </a:solidFill>
                  </a:tcPr>
                </a:tc>
                <a:tc>
                  <a:txBody>
                    <a:bodyPr/>
                    <a:lstStyle/>
                    <a:p>
                      <a:r>
                        <a:rPr sz="1300" b="0">
                          <a:solidFill>
                            <a:srgbClr val="1B2A41"/>
                          </a:solidFill>
                          <a:latin typeface="Calibri"/>
                        </a:rPr>
                        <a:t>SAR 15M</a:t>
                      </a:r>
                    </a:p>
                  </a:txBody>
                  <a:tcPr anchor="ctr">
                    <a:solidFill>
                      <a:srgbClr val="FDECE6"/>
                    </a:solidFill>
                  </a:tcPr>
                </a:tc>
                <a:tc>
                  <a:txBody>
                    <a:bodyPr/>
                    <a:lstStyle/>
                    <a:p>
                      <a:r>
                        <a:rPr sz="1300" b="0">
                          <a:solidFill>
                            <a:srgbClr val="1B2A41"/>
                          </a:solidFill>
                          <a:latin typeface="Calibri"/>
                        </a:rPr>
                        <a:t>Unclear / diluted</a:t>
                      </a:r>
                    </a:p>
                  </a:txBody>
                  <a:tcPr anchor="ctr">
                    <a:solidFill>
                      <a:srgbClr val="F2F4F7"/>
                    </a:solidFill>
                  </a:tcPr>
                </a:tc>
              </a:tr>
              <a:tr h="914400">
                <a:tc>
                  <a:txBody>
                    <a:bodyPr/>
                    <a:lstStyle/>
                    <a:p>
                      <a:r>
                        <a:rPr sz="1300" b="1">
                          <a:solidFill>
                            <a:srgbClr val="1B2A41"/>
                          </a:solidFill>
                          <a:latin typeface="Calibri"/>
                        </a:rPr>
                        <a:t>Main risk</a:t>
                      </a:r>
                    </a:p>
                  </a:txBody>
                  <a:tcPr anchor="ctr">
                    <a:solidFill>
                      <a:srgbClr val="FFFFFF"/>
                    </a:solidFill>
                  </a:tcPr>
                </a:tc>
                <a:tc>
                  <a:txBody>
                    <a:bodyPr/>
                    <a:lstStyle/>
                    <a:p>
                      <a:r>
                        <a:rPr sz="1300" b="0">
                          <a:solidFill>
                            <a:srgbClr val="1B2A41"/>
                          </a:solidFill>
                          <a:latin typeface="Calibri"/>
                        </a:rPr>
                        <a:t>Too thin to change pace anywhere</a:t>
                      </a:r>
                    </a:p>
                  </a:txBody>
                  <a:tcPr anchor="ctr">
                    <a:solidFill>
                      <a:srgbClr val="FFFFFF"/>
                    </a:solidFill>
                  </a:tcPr>
                </a:tc>
                <a:tc>
                  <a:txBody>
                    <a:bodyPr/>
                    <a:lstStyle/>
                    <a:p>
                      <a:r>
                        <a:rPr sz="1300" b="0">
                          <a:solidFill>
                            <a:srgbClr val="1B2A41"/>
                          </a:solidFill>
                          <a:latin typeface="Calibri"/>
                        </a:rPr>
                        <a:t>Concentration: depends on local delivery</a:t>
                      </a:r>
                    </a:p>
                  </a:txBody>
                  <a:tcPr anchor="ctr">
                    <a:solidFill>
                      <a:srgbClr val="FDECE6"/>
                    </a:solidFill>
                  </a:tcPr>
                </a:tc>
                <a:tc>
                  <a:txBody>
                    <a:bodyPr/>
                    <a:lstStyle/>
                    <a:p>
                      <a:r>
                        <a:rPr sz="1300" b="0">
                          <a:solidFill>
                            <a:srgbClr val="1B2A41"/>
                          </a:solidFill>
                          <a:latin typeface="Calibri"/>
                        </a:rPr>
                        <a:t>Lifts the average again, leaves gaps</a:t>
                      </a:r>
                    </a:p>
                  </a:txBody>
                  <a:tcPr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RECOMMENDATION  ·  OPTION B</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Recommend option B: weight the SAR 40M by gap and bring all four regions to 65% by December 2026</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6 / 7</a:t>
            </a:r>
          </a:p>
        </p:txBody>
      </p:sp>
      <p:pic>
        <p:nvPicPr>
          <p:cNvPr id="7" name="Picture 6" descr="05_allocation.png"/>
          <p:cNvPicPr>
            <a:picLocks noChangeAspect="1"/>
          </p:cNvPicPr>
          <p:nvPr/>
        </p:nvPicPr>
        <p:blipFill>
          <a:blip r:embed="rId3"/>
          <a:stretch>
            <a:fillRect/>
          </a:stretch>
        </p:blipFill>
        <p:spPr>
          <a:xfrm>
            <a:off x="502920" y="1783080"/>
            <a:ext cx="5852160" cy="2984264"/>
          </a:xfrm>
          <a:prstGeom prst="rect">
            <a:avLst/>
          </a:prstGeom>
        </p:spPr>
      </p:pic>
      <p:sp>
        <p:nvSpPr>
          <p:cNvPr id="8" name="TextBox 7"/>
          <p:cNvSpPr txBox="1"/>
          <p:nvPr/>
        </p:nvSpPr>
        <p:spPr>
          <a:xfrm>
            <a:off x="6675120" y="1783080"/>
            <a:ext cx="5120640" cy="4480560"/>
          </a:xfrm>
          <a:prstGeom prst="rect">
            <a:avLst/>
          </a:prstGeom>
          <a:noFill/>
        </p:spPr>
        <p:txBody>
          <a:bodyPr wrap="square" anchor="t" lIns="45720" rIns="45720">
            <a:spAutoFit/>
          </a:bodyPr>
          <a:lstStyle/>
          <a:p>
            <a:pPr algn="l">
              <a:spcAft>
                <a:spcPts val="600"/>
              </a:spcAft>
            </a:pPr>
            <a:r>
              <a:rPr sz="1700" b="1">
                <a:solidFill>
                  <a:srgbClr val="1B2A41"/>
                </a:solidFill>
                <a:latin typeface="Calibri"/>
              </a:rPr>
              <a:t>What the money buys</a:t>
            </a:r>
          </a:p>
          <a:p>
            <a:pPr algn="l">
              <a:spcAft>
                <a:spcPts val="600"/>
              </a:spcAft>
            </a:pPr>
            <a:r>
              <a:rPr sz="1400" b="1">
                <a:solidFill>
                  <a:srgbClr val="E4572E"/>
                </a:solidFill>
                <a:latin typeface="Calibri"/>
              </a:rPr>
              <a:t>1  </a:t>
            </a:r>
            <a:r>
              <a:rPr sz="1400" b="0">
                <a:solidFill>
                  <a:srgbClr val="1B2A41"/>
                </a:solidFill>
                <a:latin typeface="Calibri"/>
              </a:rPr>
              <a:t>Digitise Complaints &amp; Permits, the weakest journeys</a:t>
            </a:r>
          </a:p>
          <a:p>
            <a:pPr algn="l">
              <a:spcAft>
                <a:spcPts val="600"/>
              </a:spcAft>
            </a:pPr>
            <a:r>
              <a:rPr sz="1400" b="1">
                <a:solidFill>
                  <a:srgbClr val="E4572E"/>
                </a:solidFill>
                <a:latin typeface="Calibri"/>
              </a:rPr>
              <a:t>2  </a:t>
            </a:r>
            <a:r>
              <a:rPr sz="1400" b="0">
                <a:solidFill>
                  <a:srgbClr val="1B2A41"/>
                </a:solidFill>
                <a:latin typeface="Calibri"/>
              </a:rPr>
              <a:t>Assisted-digital desks in branches (branch adoption 53% vs app 75%)</a:t>
            </a:r>
          </a:p>
          <a:p>
            <a:pPr algn="l">
              <a:spcAft>
                <a:spcPts val="600"/>
              </a:spcAft>
            </a:pPr>
            <a:r>
              <a:rPr sz="1400" b="1">
                <a:solidFill>
                  <a:srgbClr val="E4572E"/>
                </a:solidFill>
                <a:latin typeface="Calibri"/>
              </a:rPr>
              <a:t>3  </a:t>
            </a:r>
            <a:r>
              <a:rPr sz="1400" b="0">
                <a:solidFill>
                  <a:srgbClr val="1B2A41"/>
                </a:solidFill>
                <a:latin typeface="Calibri"/>
              </a:rPr>
              <a:t>Local awareness &amp; onboarding in the four regions</a:t>
            </a:r>
          </a:p>
          <a:p>
            <a:pPr algn="l">
              <a:spcAft>
                <a:spcPts val="600"/>
              </a:spcAft>
            </a:pPr>
            <a:r>
              <a:rPr sz="1400" b="0">
                <a:solidFill>
                  <a:srgbClr val="1B2A41"/>
                </a:solidFill>
                <a:latin typeface="Calibri"/>
              </a:rPr>
              <a:t/>
            </a:r>
          </a:p>
          <a:p>
            <a:pPr algn="l">
              <a:spcAft>
                <a:spcPts val="600"/>
              </a:spcAft>
            </a:pPr>
            <a:r>
              <a:rPr sz="1700" b="1">
                <a:solidFill>
                  <a:srgbClr val="1B2A41"/>
                </a:solidFill>
                <a:latin typeface="Calibri"/>
              </a:rPr>
              <a:t>Expected effect</a:t>
            </a:r>
          </a:p>
          <a:p>
            <a:pPr algn="l">
              <a:spcAft>
                <a:spcPts val="600"/>
              </a:spcAft>
            </a:pPr>
            <a:r>
              <a:rPr sz="1400" b="1">
                <a:solidFill>
                  <a:srgbClr val="1B2A41"/>
                </a:solidFill>
                <a:latin typeface="Calibri"/>
              </a:rPr>
              <a:t>All 4 regions ≥ 65% by Dec 2026 </a:t>
            </a:r>
            <a:r>
              <a:rPr sz="1400" b="0">
                <a:solidFill>
                  <a:srgbClr val="6B7380"/>
                </a:solidFill>
                <a:latin typeface="Calibri"/>
              </a:rPr>
              <a:t>(Najran: ~Sep 2027 at today's pace)</a:t>
            </a:r>
          </a:p>
          <a:p>
            <a:pPr algn="l">
              <a:spcAft>
                <a:spcPts val="600"/>
              </a:spcAft>
            </a:pPr>
            <a:r>
              <a:rPr sz="1400" b="0">
                <a:solidFill>
                  <a:srgbClr val="1B2A41"/>
                </a:solidFill>
                <a:latin typeface="Calibri"/>
              </a:rPr>
              <a:t>Najran pace must rise </a:t>
            </a:r>
            <a:r>
              <a:rPr sz="1400" b="1">
                <a:solidFill>
                  <a:srgbClr val="1B2A41"/>
                </a:solidFill>
                <a:latin typeface="Calibri"/>
              </a:rPr>
              <a:t>+0.19 → +0.34 pts/month</a:t>
            </a:r>
          </a:p>
          <a:p>
            <a:pPr algn="l">
              <a:spcAft>
                <a:spcPts val="600"/>
              </a:spcAft>
            </a:pPr>
            <a:r>
              <a:rPr sz="1400" b="0">
                <a:solidFill>
                  <a:srgbClr val="6B7380"/>
                </a:solidFill>
                <a:latin typeface="Calibri"/>
              </a:rPr>
              <a:t>Digital txn ≈ SAR 15 vs SAR 24 assisted; higher CSAT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E4572E"/>
                </a:solidFill>
                <a:latin typeface="Calibri"/>
              </a:rPr>
              <a:t>THE ASK  ·  NEXT STEP</a:t>
            </a:r>
          </a:p>
        </p:txBody>
      </p:sp>
      <p:sp>
        <p:nvSpPr>
          <p:cNvPr id="4" name="TextBox 3"/>
          <p:cNvSpPr txBox="1"/>
          <p:nvPr/>
        </p:nvSpPr>
        <p:spPr>
          <a:xfrm>
            <a:off x="502920" y="566928"/>
            <a:ext cx="11247120" cy="1005840"/>
          </a:xfrm>
          <a:prstGeom prst="rect">
            <a:avLst/>
          </a:prstGeom>
          <a:noFill/>
        </p:spPr>
        <p:txBody>
          <a:bodyPr wrap="square" anchor="t" lIns="45720" rIns="45720">
            <a:spAutoFit/>
          </a:bodyPr>
          <a:lstStyle/>
          <a:p>
            <a:pPr algn="l">
              <a:spcAft>
                <a:spcPts val="600"/>
              </a:spcAft>
            </a:pPr>
            <a:r>
              <a:rPr sz="2800" b="1">
                <a:solidFill>
                  <a:srgbClr val="1B2A41"/>
                </a:solidFill>
                <a:latin typeface="Calibri"/>
              </a:rPr>
              <a:t>Approve SAR 40M for the four regions today, released in two tranches with a June 2026 checkpoint</a:t>
            </a:r>
          </a:p>
        </p:txBody>
      </p:sp>
      <p:sp>
        <p:nvSpPr>
          <p:cNvPr id="5" name="TextBox 4"/>
          <p:cNvSpPr txBox="1"/>
          <p:nvPr/>
        </p:nvSpPr>
        <p:spPr>
          <a:xfrm>
            <a:off x="502920" y="6400800"/>
            <a:ext cx="8229600" cy="274320"/>
          </a:xfrm>
          <a:prstGeom prst="rect">
            <a:avLst/>
          </a:prstGeom>
          <a:noFill/>
        </p:spPr>
        <p:txBody>
          <a:bodyPr wrap="square" anchor="t" lIns="45720" rIns="45720">
            <a:spAutoFit/>
          </a:bodyPr>
          <a:lstStyle/>
          <a:p>
            <a:pPr algn="l">
              <a:spcAft>
                <a:spcPts val="600"/>
              </a:spcAft>
            </a:pPr>
            <a:r>
              <a:rPr sz="1000" b="0">
                <a:solidFill>
                  <a:srgbClr val="6B7380"/>
                </a:solidFill>
                <a:latin typeface="Calibri"/>
              </a:rPr>
              <a:t>Tayseer Digital Adoption  |  SDAIA Academy SDA-DSC-112 Capstone  |  Source: Tayseer services data, Jan 2022–Dec 2025</a:t>
            </a:r>
          </a:p>
        </p:txBody>
      </p:sp>
      <p:sp>
        <p:nvSpPr>
          <p:cNvPr id="6" name="TextBox 5"/>
          <p:cNvSpPr txBox="1"/>
          <p:nvPr/>
        </p:nvSpPr>
        <p:spPr>
          <a:xfrm>
            <a:off x="10332720" y="6400800"/>
            <a:ext cx="1463040" cy="274320"/>
          </a:xfrm>
          <a:prstGeom prst="rect">
            <a:avLst/>
          </a:prstGeom>
          <a:noFill/>
        </p:spPr>
        <p:txBody>
          <a:bodyPr wrap="square" anchor="t" lIns="45720" rIns="45720">
            <a:spAutoFit/>
          </a:bodyPr>
          <a:lstStyle/>
          <a:p>
            <a:pPr algn="r">
              <a:spcAft>
                <a:spcPts val="600"/>
              </a:spcAft>
            </a:pPr>
            <a:r>
              <a:rPr sz="1000" b="0">
                <a:solidFill>
                  <a:srgbClr val="6B7380"/>
                </a:solidFill>
                <a:latin typeface="Calibri"/>
              </a:rPr>
              <a:t>7 / 7</a:t>
            </a:r>
          </a:p>
        </p:txBody>
      </p:sp>
      <p:sp>
        <p:nvSpPr>
          <p:cNvPr id="7" name="Rectangle 6"/>
          <p:cNvSpPr/>
          <p:nvPr/>
        </p:nvSpPr>
        <p:spPr>
          <a:xfrm>
            <a:off x="502920" y="1783080"/>
            <a:ext cx="5486400" cy="4343400"/>
          </a:xfrm>
          <a:prstGeom prst="rect">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5029200" cy="4114800"/>
          </a:xfrm>
          <a:prstGeom prst="rect">
            <a:avLst/>
          </a:prstGeom>
          <a:noFill/>
        </p:spPr>
        <p:txBody>
          <a:bodyPr wrap="square" anchor="t" lIns="45720" rIns="45720">
            <a:spAutoFit/>
          </a:bodyPr>
          <a:lstStyle/>
          <a:p>
            <a:pPr algn="l">
              <a:spcAft>
                <a:spcPts val="600"/>
              </a:spcAft>
            </a:pPr>
            <a:r>
              <a:rPr sz="1600" b="1">
                <a:solidFill>
                  <a:srgbClr val="E4572E"/>
                </a:solidFill>
                <a:latin typeface="Calibri"/>
              </a:rPr>
              <a:t>Decision today</a:t>
            </a:r>
          </a:p>
          <a:p>
            <a:pPr algn="l">
              <a:spcAft>
                <a:spcPts val="600"/>
              </a:spcAft>
            </a:pPr>
            <a:r>
              <a:rPr sz="3200" b="1">
                <a:solidFill>
                  <a:srgbClr val="FFFFFF"/>
                </a:solidFill>
                <a:latin typeface="Calibri"/>
              </a:rPr>
              <a:t>Approve SAR 40M</a:t>
            </a:r>
          </a:p>
          <a:p>
            <a:pPr algn="l">
              <a:spcAft>
                <a:spcPts val="600"/>
              </a:spcAft>
            </a:pPr>
            <a:r>
              <a:rPr sz="1600" b="0">
                <a:solidFill>
                  <a:srgbClr val="FFFFFF"/>
                </a:solidFill>
                <a:latin typeface="Calibri"/>
              </a:rPr>
              <a:t>Najran, Northern Borders, Al-Baha and Jazan</a:t>
            </a:r>
          </a:p>
          <a:p>
            <a:pPr algn="l">
              <a:spcAft>
                <a:spcPts val="600"/>
              </a:spcAft>
            </a:pPr>
            <a:r>
              <a:rPr sz="1500" b="0">
                <a:solidFill>
                  <a:srgbClr val="1B2A41"/>
                </a:solidFill>
                <a:latin typeface="Calibri"/>
              </a:rPr>
              <a:t/>
            </a:r>
          </a:p>
          <a:p>
            <a:pPr algn="l">
              <a:spcAft>
                <a:spcPts val="600"/>
              </a:spcAft>
            </a:pPr>
            <a:r>
              <a:rPr sz="1500" b="1">
                <a:solidFill>
                  <a:srgbClr val="E4572E"/>
                </a:solidFill>
                <a:latin typeface="Calibri"/>
              </a:rPr>
              <a:t>Tranche 1 · now</a:t>
            </a:r>
          </a:p>
          <a:p>
            <a:pPr algn="l">
              <a:spcAft>
                <a:spcPts val="600"/>
              </a:spcAft>
            </a:pPr>
            <a:r>
              <a:rPr sz="1500" b="0">
                <a:solidFill>
                  <a:srgbClr val="FFFFFF"/>
                </a:solidFill>
                <a:latin typeface="Calibri"/>
              </a:rPr>
              <a:t>SAR 20M to start the Complaints/Permits fixes and branch desks</a:t>
            </a:r>
          </a:p>
          <a:p>
            <a:pPr algn="l">
              <a:spcAft>
                <a:spcPts val="600"/>
              </a:spcAft>
            </a:pPr>
            <a:r>
              <a:rPr sz="1500" b="1">
                <a:solidFill>
                  <a:srgbClr val="E4572E"/>
                </a:solidFill>
                <a:latin typeface="Calibri"/>
              </a:rPr>
              <a:t>Tranche 2 · June 2026</a:t>
            </a:r>
          </a:p>
          <a:p>
            <a:pPr algn="l">
              <a:spcAft>
                <a:spcPts val="600"/>
              </a:spcAft>
            </a:pPr>
            <a:r>
              <a:rPr sz="1500" b="0">
                <a:solidFill>
                  <a:srgbClr val="FFFFFF"/>
                </a:solidFill>
                <a:latin typeface="Calibri"/>
              </a:rPr>
              <a:t>SAR 20M, released region by region if the checkpoint is met</a:t>
            </a:r>
          </a:p>
        </p:txBody>
      </p:sp>
      <p:sp>
        <p:nvSpPr>
          <p:cNvPr id="9" name="TextBox 8"/>
          <p:cNvSpPr txBox="1"/>
          <p:nvPr/>
        </p:nvSpPr>
        <p:spPr>
          <a:xfrm>
            <a:off x="6355080" y="1783080"/>
            <a:ext cx="5394960" cy="457200"/>
          </a:xfrm>
          <a:prstGeom prst="rect">
            <a:avLst/>
          </a:prstGeom>
          <a:noFill/>
        </p:spPr>
        <p:txBody>
          <a:bodyPr wrap="square" anchor="t" lIns="45720" rIns="45720">
            <a:spAutoFit/>
          </a:bodyPr>
          <a:lstStyle/>
          <a:p>
            <a:pPr algn="l">
              <a:spcAft>
                <a:spcPts val="600"/>
              </a:spcAft>
            </a:pPr>
            <a:r>
              <a:rPr sz="1700" b="1">
                <a:solidFill>
                  <a:srgbClr val="1B2A41"/>
                </a:solidFill>
                <a:latin typeface="Calibri"/>
              </a:rPr>
              <a:t>June 2026 checkpoint (halfway to 65%)</a:t>
            </a:r>
          </a:p>
        </p:txBody>
      </p:sp>
      <p:graphicFrame>
        <p:nvGraphicFramePr>
          <p:cNvPr id="10" name="Table 9"/>
          <p:cNvGraphicFramePr>
            <a:graphicFrameLocks noGrp="1"/>
          </p:cNvGraphicFramePr>
          <p:nvPr/>
        </p:nvGraphicFramePr>
        <p:xfrm>
          <a:off x="6355080" y="2286000"/>
          <a:ext cx="5394960" cy="2743200"/>
        </p:xfrm>
        <a:graphic>
          <a:graphicData uri="http://schemas.openxmlformats.org/drawingml/2006/table">
            <a:tbl>
              <a:tblPr firstRow="1" bandRow="1">
                <a:tableStyleId>{5C22544A-7EE6-4342-B048-85BDC9FD1C3A}</a:tableStyleId>
              </a:tblPr>
              <a:tblGrid>
                <a:gridCol w="1798320"/>
                <a:gridCol w="1798320"/>
                <a:gridCol w="1798320"/>
              </a:tblGrid>
              <a:tr h="548640">
                <a:tc>
                  <a:txBody>
                    <a:bodyPr/>
                    <a:lstStyle/>
                    <a:p>
                      <a:r>
                        <a:rPr sz="1400" b="1">
                          <a:solidFill>
                            <a:srgbClr val="FFFFFF"/>
                          </a:solidFill>
                          <a:latin typeface="Calibri"/>
                        </a:rPr>
                        <a:t>Region</a:t>
                      </a:r>
                    </a:p>
                  </a:txBody>
                  <a:tcPr>
                    <a:solidFill>
                      <a:srgbClr val="1B2A41"/>
                    </a:solidFill>
                  </a:tcPr>
                </a:tc>
                <a:tc>
                  <a:txBody>
                    <a:bodyPr/>
                    <a:lstStyle/>
                    <a:p>
                      <a:r>
                        <a:rPr sz="1400" b="1">
                          <a:solidFill>
                            <a:srgbClr val="FFFFFF"/>
                          </a:solidFill>
                          <a:latin typeface="Calibri"/>
                        </a:rPr>
                        <a:t>Dec 2025</a:t>
                      </a:r>
                    </a:p>
                  </a:txBody>
                  <a:tcPr>
                    <a:solidFill>
                      <a:srgbClr val="1B2A41"/>
                    </a:solidFill>
                  </a:tcPr>
                </a:tc>
                <a:tc>
                  <a:txBody>
                    <a:bodyPr/>
                    <a:lstStyle/>
                    <a:p>
                      <a:r>
                        <a:rPr sz="1400" b="1">
                          <a:solidFill>
                            <a:srgbClr val="FFFFFF"/>
                          </a:solidFill>
                          <a:latin typeface="Calibri"/>
                        </a:rPr>
                        <a:t>Must reach by Jun 2026</a:t>
                      </a:r>
                    </a:p>
                  </a:txBody>
                  <a:tcPr>
                    <a:solidFill>
                      <a:srgbClr val="1B2A41"/>
                    </a:solidFill>
                  </a:tcPr>
                </a:tc>
              </a:tr>
              <a:tr h="548640">
                <a:tc>
                  <a:txBody>
                    <a:bodyPr/>
                    <a:lstStyle/>
                    <a:p>
                      <a:r>
                        <a:rPr sz="1400" b="0">
                          <a:solidFill>
                            <a:srgbClr val="1B2A41"/>
                          </a:solidFill>
                          <a:latin typeface="Calibri"/>
                        </a:rPr>
                        <a:t>Najran</a:t>
                      </a:r>
                    </a:p>
                  </a:txBody>
                  <a:tcPr>
                    <a:solidFill>
                      <a:srgbClr val="F2F4F7"/>
                    </a:solidFill>
                  </a:tcPr>
                </a:tc>
                <a:tc>
                  <a:txBody>
                    <a:bodyPr/>
                    <a:lstStyle/>
                    <a:p>
                      <a:r>
                        <a:rPr sz="1400" b="0">
                          <a:solidFill>
                            <a:srgbClr val="1B2A41"/>
                          </a:solidFill>
                          <a:latin typeface="Calibri"/>
                        </a:rPr>
                        <a:t>60.9%</a:t>
                      </a:r>
                    </a:p>
                  </a:txBody>
                  <a:tcPr>
                    <a:solidFill>
                      <a:srgbClr val="F2F4F7"/>
                    </a:solidFill>
                  </a:tcPr>
                </a:tc>
                <a:tc>
                  <a:txBody>
                    <a:bodyPr/>
                    <a:lstStyle/>
                    <a:p>
                      <a:r>
                        <a:rPr sz="1400" b="1">
                          <a:solidFill>
                            <a:srgbClr val="E4572E"/>
                          </a:solidFill>
                          <a:latin typeface="Calibri"/>
                        </a:rPr>
                        <a:t>≥ 62.9%</a:t>
                      </a:r>
                    </a:p>
                  </a:txBody>
                  <a:tcPr>
                    <a:solidFill>
                      <a:srgbClr val="F2F4F7"/>
                    </a:solidFill>
                  </a:tcPr>
                </a:tc>
              </a:tr>
              <a:tr h="548640">
                <a:tc>
                  <a:txBody>
                    <a:bodyPr/>
                    <a:lstStyle/>
                    <a:p>
                      <a:r>
                        <a:rPr sz="1400" b="0">
                          <a:solidFill>
                            <a:srgbClr val="1B2A41"/>
                          </a:solidFill>
                          <a:latin typeface="Calibri"/>
                        </a:rPr>
                        <a:t>Northern Borders</a:t>
                      </a:r>
                    </a:p>
                  </a:txBody>
                  <a:tcPr>
                    <a:solidFill>
                      <a:srgbClr val="FFFFFF"/>
                    </a:solidFill>
                  </a:tcPr>
                </a:tc>
                <a:tc>
                  <a:txBody>
                    <a:bodyPr/>
                    <a:lstStyle/>
                    <a:p>
                      <a:r>
                        <a:rPr sz="1400" b="0">
                          <a:solidFill>
                            <a:srgbClr val="1B2A41"/>
                          </a:solidFill>
                          <a:latin typeface="Calibri"/>
                        </a:rPr>
                        <a:t>62.7%</a:t>
                      </a:r>
                    </a:p>
                  </a:txBody>
                  <a:tcPr>
                    <a:solidFill>
                      <a:srgbClr val="FFFFFF"/>
                    </a:solidFill>
                  </a:tcPr>
                </a:tc>
                <a:tc>
                  <a:txBody>
                    <a:bodyPr/>
                    <a:lstStyle/>
                    <a:p>
                      <a:r>
                        <a:rPr sz="1400" b="1">
                          <a:solidFill>
                            <a:srgbClr val="E4572E"/>
                          </a:solidFill>
                          <a:latin typeface="Calibri"/>
                        </a:rPr>
                        <a:t>≥ 63.9%</a:t>
                      </a:r>
                    </a:p>
                  </a:txBody>
                  <a:tcPr>
                    <a:solidFill>
                      <a:srgbClr val="FFFFFF"/>
                    </a:solidFill>
                  </a:tcPr>
                </a:tc>
              </a:tr>
              <a:tr h="548640">
                <a:tc>
                  <a:txBody>
                    <a:bodyPr/>
                    <a:lstStyle/>
                    <a:p>
                      <a:r>
                        <a:rPr sz="1400" b="0">
                          <a:solidFill>
                            <a:srgbClr val="1B2A41"/>
                          </a:solidFill>
                          <a:latin typeface="Calibri"/>
                        </a:rPr>
                        <a:t>Al-Baha</a:t>
                      </a:r>
                    </a:p>
                  </a:txBody>
                  <a:tcPr>
                    <a:solidFill>
                      <a:srgbClr val="F2F4F7"/>
                    </a:solidFill>
                  </a:tcPr>
                </a:tc>
                <a:tc>
                  <a:txBody>
                    <a:bodyPr/>
                    <a:lstStyle/>
                    <a:p>
                      <a:r>
                        <a:rPr sz="1400" b="0">
                          <a:solidFill>
                            <a:srgbClr val="1B2A41"/>
                          </a:solidFill>
                          <a:latin typeface="Calibri"/>
                        </a:rPr>
                        <a:t>62.8%</a:t>
                      </a:r>
                    </a:p>
                  </a:txBody>
                  <a:tcPr>
                    <a:solidFill>
                      <a:srgbClr val="F2F4F7"/>
                    </a:solidFill>
                  </a:tcPr>
                </a:tc>
                <a:tc>
                  <a:txBody>
                    <a:bodyPr/>
                    <a:lstStyle/>
                    <a:p>
                      <a:r>
                        <a:rPr sz="1400" b="1">
                          <a:solidFill>
                            <a:srgbClr val="E4572E"/>
                          </a:solidFill>
                          <a:latin typeface="Calibri"/>
                        </a:rPr>
                        <a:t>≥ 63.9%</a:t>
                      </a:r>
                    </a:p>
                  </a:txBody>
                  <a:tcPr>
                    <a:solidFill>
                      <a:srgbClr val="F2F4F7"/>
                    </a:solidFill>
                  </a:tcPr>
                </a:tc>
              </a:tr>
              <a:tr h="548640">
                <a:tc>
                  <a:txBody>
                    <a:bodyPr/>
                    <a:lstStyle/>
                    <a:p>
                      <a:r>
                        <a:rPr sz="1400" b="0">
                          <a:solidFill>
                            <a:srgbClr val="1B2A41"/>
                          </a:solidFill>
                          <a:latin typeface="Calibri"/>
                        </a:rPr>
                        <a:t>Jazan</a:t>
                      </a:r>
                    </a:p>
                  </a:txBody>
                  <a:tcPr>
                    <a:solidFill>
                      <a:srgbClr val="FFFFFF"/>
                    </a:solidFill>
                  </a:tcPr>
                </a:tc>
                <a:tc>
                  <a:txBody>
                    <a:bodyPr/>
                    <a:lstStyle/>
                    <a:p>
                      <a:r>
                        <a:rPr sz="1400" b="0">
                          <a:solidFill>
                            <a:srgbClr val="1B2A41"/>
                          </a:solidFill>
                          <a:latin typeface="Calibri"/>
                        </a:rPr>
                        <a:t>63.0%</a:t>
                      </a:r>
                    </a:p>
                  </a:txBody>
                  <a:tcPr>
                    <a:solidFill>
                      <a:srgbClr val="FFFFFF"/>
                    </a:solidFill>
                  </a:tcPr>
                </a:tc>
                <a:tc>
                  <a:txBody>
                    <a:bodyPr/>
                    <a:lstStyle/>
                    <a:p>
                      <a:r>
                        <a:rPr sz="1400" b="1">
                          <a:solidFill>
                            <a:srgbClr val="E4572E"/>
                          </a:solidFill>
                          <a:latin typeface="Calibri"/>
                        </a:rPr>
                        <a:t>≥ 64.0%</a:t>
                      </a:r>
                    </a:p>
                  </a:txBody>
                  <a:tcPr>
                    <a:solidFill>
                      <a:srgbClr val="FFFFFF"/>
                    </a:solidFill>
                  </a:tcPr>
                </a:tc>
              </a:tr>
            </a:tbl>
          </a:graphicData>
        </a:graphic>
      </p:graphicFrame>
      <p:sp>
        <p:nvSpPr>
          <p:cNvPr id="11" name="TextBox 10"/>
          <p:cNvSpPr txBox="1"/>
          <p:nvPr/>
        </p:nvSpPr>
        <p:spPr>
          <a:xfrm>
            <a:off x="6355080" y="5212080"/>
            <a:ext cx="5394960" cy="914400"/>
          </a:xfrm>
          <a:prstGeom prst="rect">
            <a:avLst/>
          </a:prstGeom>
          <a:noFill/>
        </p:spPr>
        <p:txBody>
          <a:bodyPr wrap="square" anchor="t" lIns="45720" rIns="45720">
            <a:spAutoFit/>
          </a:bodyPr>
          <a:lstStyle/>
          <a:p>
            <a:pPr algn="l">
              <a:spcAft>
                <a:spcPts val="600"/>
              </a:spcAft>
            </a:pPr>
            <a:r>
              <a:rPr sz="1300" b="0">
                <a:solidFill>
                  <a:srgbClr val="6B7380"/>
                </a:solidFill>
                <a:latin typeface="Calibri"/>
              </a:rPr>
              <a:t>Tracked monthly on the Tableau dashboard. A missed checkpoint sends that region's tranche 2 to its weakest journey or to the next lagging region.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