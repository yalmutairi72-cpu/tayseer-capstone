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6"/>
          <c:w val="0.9"/>
          <c:h val="0.82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National adoption</c:v>
                </c:pt>
              </c:strCache>
            </c:strRef>
          </c:tx>
          <c:spPr>
            <a:solidFill>
              <a:srgbClr val="0B2545"/>
            </a:solidFill>
            <a:ln w="38100" cap="flat">
              <a:solidFill>
                <a:srgbClr val="0B2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2545"/>
              </a:solidFill>
              <a:ln w="9525" cap="flat">
                <a:solidFill>
                  <a:srgbClr val="0B2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Jan 2022</c:v>
                  </c:pt>
                  <c:pt idx="1">
                    <c:v>Feb 2022</c:v>
                  </c:pt>
                  <c:pt idx="2">
                    <c:v>Mar 2022</c:v>
                  </c:pt>
                  <c:pt idx="3">
                    <c:v>Apr 2022</c:v>
                  </c:pt>
                  <c:pt idx="4">
                    <c:v>May 2022</c:v>
                  </c:pt>
                  <c:pt idx="5">
                    <c:v>Jun 2022</c:v>
                  </c:pt>
                  <c:pt idx="6">
                    <c:v>Jul 2022</c:v>
                  </c:pt>
                  <c:pt idx="7">
                    <c:v>Aug 2022</c:v>
                  </c:pt>
                  <c:pt idx="8">
                    <c:v>Sep 2022</c:v>
                  </c:pt>
                  <c:pt idx="9">
                    <c:v>Oct 2022</c:v>
                  </c:pt>
                  <c:pt idx="10">
                    <c:v>Nov 2022</c:v>
                  </c:pt>
                  <c:pt idx="11">
                    <c:v>Dec 2022</c:v>
                  </c:pt>
                  <c:pt idx="12">
                    <c:v>Jan 2023</c:v>
                  </c:pt>
                  <c:pt idx="13">
                    <c:v>Feb 2023</c:v>
                  </c:pt>
                  <c:pt idx="14">
                    <c:v>Mar 2023</c:v>
                  </c:pt>
                  <c:pt idx="15">
                    <c:v>Apr 2023</c:v>
                  </c:pt>
                  <c:pt idx="16">
                    <c:v>May 2023</c:v>
                  </c:pt>
                  <c:pt idx="17">
                    <c:v>Jun 2023</c:v>
                  </c:pt>
                  <c:pt idx="18">
                    <c:v>Jul 2023</c:v>
                  </c:pt>
                  <c:pt idx="19">
                    <c:v>Aug 2023</c:v>
                  </c:pt>
                  <c:pt idx="20">
                    <c:v>Sep 2023</c:v>
                  </c:pt>
                  <c:pt idx="21">
                    <c:v>Oct 2023</c:v>
                  </c:pt>
                  <c:pt idx="22">
                    <c:v>Nov 2023</c:v>
                  </c:pt>
                  <c:pt idx="23">
                    <c:v>Dec 2023</c:v>
                  </c:pt>
                  <c:pt idx="24">
                    <c:v>Jan 2024</c:v>
                  </c:pt>
                  <c:pt idx="25">
                    <c:v>Feb 2024</c:v>
                  </c:pt>
                  <c:pt idx="26">
                    <c:v>Mar 2024</c:v>
                  </c:pt>
                  <c:pt idx="27">
                    <c:v>Apr 2024</c:v>
                  </c:pt>
                  <c:pt idx="28">
                    <c:v>May 2024</c:v>
                  </c:pt>
                  <c:pt idx="29">
                    <c:v>Jun 2024</c:v>
                  </c:pt>
                  <c:pt idx="30">
                    <c:v>Jul 2024</c:v>
                  </c:pt>
                  <c:pt idx="31">
                    <c:v>Aug 2024</c:v>
                  </c:pt>
                  <c:pt idx="32">
                    <c:v>Sep 2024</c:v>
                  </c:pt>
                  <c:pt idx="33">
                    <c:v>Oct 2024</c:v>
                  </c:pt>
                  <c:pt idx="34">
                    <c:v>Nov 2024</c:v>
                  </c:pt>
                  <c:pt idx="35">
                    <c:v>Dec 2024</c:v>
                  </c:pt>
                  <c:pt idx="36">
                    <c:v>Jan 2025</c:v>
                  </c:pt>
                  <c:pt idx="37">
                    <c:v>Feb 2025</c:v>
                  </c:pt>
                  <c:pt idx="38">
                    <c:v>Mar 2025</c:v>
                  </c:pt>
                  <c:pt idx="39">
                    <c:v>Apr 2025</c:v>
                  </c:pt>
                  <c:pt idx="40">
                    <c:v>May 2025</c:v>
                  </c:pt>
                  <c:pt idx="41">
                    <c:v>Jun 2025</c:v>
                  </c:pt>
                  <c:pt idx="42">
                    <c:v>Jul 2025</c:v>
                  </c:pt>
                  <c:pt idx="43">
                    <c:v>Aug 2025</c:v>
                  </c:pt>
                  <c:pt idx="44">
                    <c:v>Sep 2025</c:v>
                  </c:pt>
                  <c:pt idx="45">
                    <c:v>Oct 2025</c:v>
                  </c:pt>
                  <c:pt idx="46">
                    <c:v>Nov 2025</c:v>
                  </c:pt>
                  <c:pt idx="47">
                    <c:v>Dec 2025</c:v>
                  </c:pt>
                </c:lvl>
              </c:multiLvlStrCache>
            </c:multiLvl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54.14</c:v>
                </c:pt>
                <c:pt idx="1">
                  <c:v>54.04</c:v>
                </c:pt>
                <c:pt idx="2">
                  <c:v>54.55</c:v>
                </c:pt>
                <c:pt idx="3">
                  <c:v>54.73</c:v>
                </c:pt>
                <c:pt idx="4">
                  <c:v>55.22</c:v>
                </c:pt>
                <c:pt idx="5">
                  <c:v>55.2</c:v>
                </c:pt>
                <c:pt idx="6">
                  <c:v>55.55</c:v>
                </c:pt>
                <c:pt idx="7">
                  <c:v>56.08</c:v>
                </c:pt>
                <c:pt idx="8">
                  <c:v>55.88</c:v>
                </c:pt>
                <c:pt idx="9">
                  <c:v>56.45</c:v>
                </c:pt>
                <c:pt idx="10">
                  <c:v>56.72</c:v>
                </c:pt>
                <c:pt idx="11">
                  <c:v>56.6</c:v>
                </c:pt>
                <c:pt idx="12">
                  <c:v>57.02</c:v>
                </c:pt>
                <c:pt idx="13">
                  <c:v>57.43</c:v>
                </c:pt>
                <c:pt idx="14">
                  <c:v>57.47</c:v>
                </c:pt>
                <c:pt idx="15">
                  <c:v>58.01</c:v>
                </c:pt>
                <c:pt idx="16">
                  <c:v>58.44</c:v>
                </c:pt>
                <c:pt idx="17">
                  <c:v>58.38</c:v>
                </c:pt>
                <c:pt idx="18">
                  <c:v>58.89</c:v>
                </c:pt>
                <c:pt idx="19">
                  <c:v>59.02</c:v>
                </c:pt>
                <c:pt idx="20">
                  <c:v>59.23</c:v>
                </c:pt>
                <c:pt idx="21">
                  <c:v>59.25</c:v>
                </c:pt>
                <c:pt idx="22">
                  <c:v>59.58</c:v>
                </c:pt>
                <c:pt idx="23">
                  <c:v>59.85</c:v>
                </c:pt>
                <c:pt idx="24">
                  <c:v>60.38</c:v>
                </c:pt>
                <c:pt idx="25">
                  <c:v>60.55</c:v>
                </c:pt>
                <c:pt idx="26">
                  <c:v>60.77</c:v>
                </c:pt>
                <c:pt idx="27">
                  <c:v>60.85</c:v>
                </c:pt>
                <c:pt idx="28">
                  <c:v>61.35</c:v>
                </c:pt>
                <c:pt idx="29">
                  <c:v>61.52</c:v>
                </c:pt>
                <c:pt idx="30">
                  <c:v>62.01</c:v>
                </c:pt>
                <c:pt idx="31">
                  <c:v>61.83</c:v>
                </c:pt>
                <c:pt idx="32">
                  <c:v>62.58</c:v>
                </c:pt>
                <c:pt idx="33">
                  <c:v>62.79</c:v>
                </c:pt>
                <c:pt idx="34">
                  <c:v>62.79</c:v>
                </c:pt>
                <c:pt idx="35">
                  <c:v>63.26</c:v>
                </c:pt>
                <c:pt idx="36">
                  <c:v>63.42</c:v>
                </c:pt>
                <c:pt idx="37">
                  <c:v>63.78</c:v>
                </c:pt>
                <c:pt idx="38">
                  <c:v>63.66</c:v>
                </c:pt>
                <c:pt idx="39">
                  <c:v>64.06</c:v>
                </c:pt>
                <c:pt idx="40">
                  <c:v>64.19</c:v>
                </c:pt>
                <c:pt idx="41">
                  <c:v>64.6</c:v>
                </c:pt>
                <c:pt idx="42">
                  <c:v>64.98</c:v>
                </c:pt>
                <c:pt idx="43">
                  <c:v>65.2</c:v>
                </c:pt>
                <c:pt idx="44">
                  <c:v>65.51</c:v>
                </c:pt>
                <c:pt idx="45">
                  <c:v>65.7</c:v>
                </c:pt>
                <c:pt idx="46">
                  <c:v>65.98</c:v>
                </c:pt>
                <c:pt idx="47">
                  <c:v>66.21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2"/>
      </c:catAx>
      <c:valAx>
        <c:axId val="2094734552"/>
        <c:scaling>
          <c:orientation val="minMax"/>
          <c:max val="68"/>
          <c:min val="52"/>
        </c:scaling>
        <c:delete val="0"/>
        <c:axPos val="l"/>
        <c:majorGridlines>
          <c:spPr>
            <a:ln w="9525" cap="flat">
              <a:solidFill>
                <a:srgbClr val="E6E9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"/>
          <c:y val="0.03"/>
          <c:w val="0.72"/>
          <c:h val="0.8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 adoption</c:v>
                </c:pt>
              </c:strCache>
            </c:strRef>
          </c:tx>
          <c:spPr>
            <a:solidFill>
              <a:srgbClr val="E8692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6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6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6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69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692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692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692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7BEC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7BEC8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B7BEC8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B7BEC8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B7BEC8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Najran</c:v>
                  </c:pt>
                  <c:pt idx="1">
                    <c:v>Northern Borders</c:v>
                  </c:pt>
                  <c:pt idx="2">
                    <c:v>Al-Baha</c:v>
                  </c:pt>
                  <c:pt idx="3">
                    <c:v>Jazan</c:v>
                  </c:pt>
                  <c:pt idx="4">
                    <c:v>Asir</c:v>
                  </c:pt>
                  <c:pt idx="5">
                    <c:v>Tabuk</c:v>
                  </c:pt>
                  <c:pt idx="6">
                    <c:v>Hail</c:v>
                  </c:pt>
                  <c:pt idx="7">
                    <c:v>Al-Jouf</c:v>
                  </c:pt>
                  <c:pt idx="8">
                    <c:v>Qassim</c:v>
                  </c:pt>
                  <c:pt idx="9">
                    <c:v>Madinah</c:v>
                  </c:pt>
                  <c:pt idx="10">
                    <c:v>Eastern Province</c:v>
                  </c:pt>
                  <c:pt idx="11">
                    <c:v>Makkah</c:v>
                  </c:pt>
                  <c:pt idx="12">
                    <c:v>Riyadh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60.86</c:v>
                </c:pt>
                <c:pt idx="1">
                  <c:v>62.7</c:v>
                </c:pt>
                <c:pt idx="2">
                  <c:v>62.78</c:v>
                </c:pt>
                <c:pt idx="3">
                  <c:v>63.03</c:v>
                </c:pt>
                <c:pt idx="4">
                  <c:v>64.36</c:v>
                </c:pt>
                <c:pt idx="5">
                  <c:v>64.48</c:v>
                </c:pt>
                <c:pt idx="6">
                  <c:v>64.74</c:v>
                </c:pt>
                <c:pt idx="7">
                  <c:v>64.82</c:v>
                </c:pt>
                <c:pt idx="8">
                  <c:v>66.11</c:v>
                </c:pt>
                <c:pt idx="9">
                  <c:v>68.23</c:v>
                </c:pt>
                <c:pt idx="10">
                  <c:v>68.7</c:v>
                </c:pt>
                <c:pt idx="11">
                  <c:v>70.7</c:v>
                </c:pt>
                <c:pt idx="12">
                  <c:v>70.75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"/>
          <c:min val="55"/>
        </c:scaling>
        <c:delete val="0"/>
        <c:axPos val="b"/>
        <c:majorGridlines>
          <c:spPr>
            <a:ln w="9525" cap="flat">
              <a:solidFill>
                <a:srgbClr val="E6E9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"/>
          <c:y val="0.03"/>
          <c:w val="0.72"/>
          <c:h val="0.8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Months to 65%</c:v>
                </c:pt>
              </c:strCache>
            </c:strRef>
          </c:tx>
          <c:spPr>
            <a:solidFill>
              <a:srgbClr val="E8692B"/>
            </a:solidFill>
            <a:effectLst/>
          </c:spPr>
          <c:invertIfNegative val="0"/>
          <c:dLbls>
            <c:numFmt formatCode="0&quot; mo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A4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6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6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6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7BEC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7BEC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7BEC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7BEC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Najran</c:v>
                  </c:pt>
                  <c:pt idx="1">
                    <c:v>Northern Borders</c:v>
                  </c:pt>
                  <c:pt idx="2">
                    <c:v>Al-Baha</c:v>
                  </c:pt>
                  <c:pt idx="3">
                    <c:v>Jazan</c:v>
                  </c:pt>
                  <c:pt idx="4">
                    <c:v>Asir</c:v>
                  </c:pt>
                  <c:pt idx="5">
                    <c:v>Tabuk</c:v>
                  </c:pt>
                  <c:pt idx="6">
                    <c:v>Hail</c:v>
                  </c:pt>
                  <c:pt idx="7">
                    <c:v>Al-Jouf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</c:v>
                </c:pt>
                <c:pt idx="1">
                  <c:v>10</c:v>
                </c:pt>
                <c:pt idx="2">
                  <c:v>9</c:v>
                </c:pt>
                <c:pt idx="3">
                  <c:v>7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dLbls>
          <c:numFmt formatCode="0&quot; mo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B2A4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b"/>
        <c:majorGridlines>
          <c:spPr>
            <a:ln w="9525" cap="flat">
              <a:solidFill>
                <a:srgbClr val="E6E9EE"/>
              </a:solidFill>
              <a:prstDash val="solid"/>
              <a:round/>
            </a:ln>
          </c:spPr>
        </c:majorGridlines>
        <c:numFmt formatCode="0&quot; mo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6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69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0915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5B48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9D2B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Najran</c:v>
                </c:pt>
                <c:pt idx="1">
                  <c:v>Northern Borders</c:v>
                </c:pt>
                <c:pt idx="2">
                  <c:v>Al-Baha</c:v>
                </c:pt>
                <c:pt idx="3">
                  <c:v>Jazan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15</c:v>
                </c:pt>
                <c:pt idx="1">
                  <c:v>9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Yousef (0:00–0:30)
State the ask in the first 30 seconds: approve SAR 40M for Najran, Northern Borders, Al-Baha and Jazan. National is above 65%, these four are stuck; Najran would need almost two years. Money released in two tranches with a June 2026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Yousef (0:30–1:15)
Orient first: the line is national digital adoption by month, 2022–2025; dashed orange is the 65% target.
Message: steady rise from ~54% to 66.2%, crossed 65% in August 2025. Transition: the average hides something; hand over to Abdulwahab.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Abdulwahab (1:15–2:00)
Orient: each bar is a region's adoption in Dec 2025, lowest at the bottom; orange = below target, grey = on/above; dashed line = 65%.
Message: 8 of 13 regions below target; five large regions pull the average up; Najran lowest at 60.9%.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Abdulwahab (2:00–4:00)
Orient: only the 8 below-target regions; bar = months to reach 65% at the 2025 pace.
Grey four (Al-Jouf, Hail, Tabuk, Asir) cross within ~3 months on their own. Orange four need 7–21 months; Najran has the biggest gap and slowest pace.
Right panel: Complaints is the weakest journey (56.8% vs 62.1% nationally).
Method: pace = linear trend of 2025; adoption is user-weighted, same as the Tableau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Firas (4:00–5:00)
Same question for each option: does the money reach a gap that won't close by itself?
A spreads SAR 5M x 8: half goes to regions closing in 3 months, Najran only 5M. B focuses on the 4 laggards by gap size. C national campaign: national already 66%, reach lands in on-target regions. Transition: we recommend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Firas (5:00–6:15)
Split follows users still to convert: Najran 15, Northern Borders 9, Al-Baha 8, Jazan 8.
The money buys: digitise Complaints &amp; Permits; assisted-digital desks in branches (53% vs 75% app); local onboarding.
Effect: all four at 65% by Dec 2026; Najran must roughly double its pace (0.19 → 0.34 pts/month), otherwise ~Sep 2027.
Uncertainty: data shows where the gap is, not points per million, hence staged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Firas (6:15–7:00)
Restate the ask: approve SAR 40M for Najran, Northern Borders, Al-Baha and Jazan; SAR 20M now, SAR 20M in June 2026 if each region is at least halfway to 65%. Tracked monthly on the Tableau dashboard; a missed checkpoint re-targets that region's tranche.
Close: Nationally we hit 65%. This decision makes sure every region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Tayseer Digital Adoption  ·  SDAIA Academy SDA-DSC-112  ·  Source: Tayseer services data, Jan 2022 – Dec 2025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6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Tayseer Digital Adoption  ·  SDAIA Academy SDA-DSC-112  ·  Source: Tayseer services data, Jan 2022 – Dec 2025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6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 Ask"/>
          <p:cNvSpPr/>
          <p:nvPr/>
        </p:nvSpPr>
        <p:spPr>
          <a:xfrm>
            <a:off x="4782312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E8692B"/>
          </a:solidFill>
          <a:ln w="12700">
            <a:solidFill>
              <a:srgbClr val="E869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82312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850" dirty="0"/>
          </a:p>
        </p:txBody>
      </p:sp>
      <p:sp>
        <p:nvSpPr>
          <p:cNvPr id="4" name="Tracker Situation"/>
          <p:cNvSpPr/>
          <p:nvPr/>
        </p:nvSpPr>
        <p:spPr>
          <a:xfrm>
            <a:off x="5769864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9864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850" dirty="0"/>
          </a:p>
        </p:txBody>
      </p:sp>
      <p:sp>
        <p:nvSpPr>
          <p:cNvPr id="6" name="Tracker Complication"/>
          <p:cNvSpPr/>
          <p:nvPr/>
        </p:nvSpPr>
        <p:spPr>
          <a:xfrm>
            <a:off x="6757416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57416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850" dirty="0"/>
          </a:p>
        </p:txBody>
      </p:sp>
      <p:sp>
        <p:nvSpPr>
          <p:cNvPr id="8" name="Tracker Evidence"/>
          <p:cNvSpPr/>
          <p:nvPr/>
        </p:nvSpPr>
        <p:spPr>
          <a:xfrm>
            <a:off x="7744968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44968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50" dirty="0"/>
          </a:p>
        </p:txBody>
      </p:sp>
      <p:sp>
        <p:nvSpPr>
          <p:cNvPr id="10" name="Tracker Options"/>
          <p:cNvSpPr/>
          <p:nvPr/>
        </p:nvSpPr>
        <p:spPr>
          <a:xfrm>
            <a:off x="8732520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32520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850" dirty="0"/>
          </a:p>
        </p:txBody>
      </p:sp>
      <p:sp>
        <p:nvSpPr>
          <p:cNvPr id="12" name="Tracker Recommendation"/>
          <p:cNvSpPr/>
          <p:nvPr/>
        </p:nvSpPr>
        <p:spPr>
          <a:xfrm>
            <a:off x="9720072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20072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14" name="Tracker Next step"/>
          <p:cNvSpPr/>
          <p:nvPr/>
        </p:nvSpPr>
        <p:spPr>
          <a:xfrm>
            <a:off x="10707624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07624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·  DECISION REQUESTED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868680"/>
            <a:ext cx="10241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SAR 40M for four regions to close the last gap to 65% digital adoption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3774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  </a:t>
            </a:r>
            <a:pPr indent="0" marL="0">
              <a:buNone/>
            </a:pP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Tayseer has met the 65% target nationally, but four regions are stuck below it. Putting the full SAR 40M there brings all four to 65% by Dec 2026 instead of as late as 2027.</a:t>
            </a:r>
            <a:endParaRPr lang="en-US" sz="1600" dirty="0"/>
          </a:p>
        </p:txBody>
      </p:sp>
      <p:sp>
        <p:nvSpPr>
          <p:cNvPr id="19" name="Card Najran"/>
          <p:cNvSpPr/>
          <p:nvPr/>
        </p:nvSpPr>
        <p:spPr>
          <a:xfrm>
            <a:off x="548640" y="3337560"/>
            <a:ext cx="2615184" cy="2331720"/>
          </a:xfrm>
          <a:prstGeom prst="roundRect">
            <a:avLst>
              <a:gd name="adj" fmla="val 3922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53872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Najran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3904488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15M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5488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60.9% today · gap 4.1 pts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months to reach 65% on current pace</a:t>
            </a:r>
            <a:endParaRPr lang="en-US" sz="1250" dirty="0"/>
          </a:p>
        </p:txBody>
      </p:sp>
      <p:sp>
        <p:nvSpPr>
          <p:cNvPr id="23" name="Card Northern Borders"/>
          <p:cNvSpPr/>
          <p:nvPr/>
        </p:nvSpPr>
        <p:spPr>
          <a:xfrm>
            <a:off x="3364992" y="3337560"/>
            <a:ext cx="2615184" cy="2331720"/>
          </a:xfrm>
          <a:prstGeom prst="roundRect">
            <a:avLst>
              <a:gd name="adj" fmla="val 3922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93592" y="353872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Borders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593592" y="3904488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9M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3593592" y="475488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62.7% today · gap 2.3 pts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months to reach 65% on current pace</a:t>
            </a:r>
            <a:endParaRPr lang="en-US" sz="1250" dirty="0"/>
          </a:p>
        </p:txBody>
      </p:sp>
      <p:sp>
        <p:nvSpPr>
          <p:cNvPr id="27" name="Card Al-Baha"/>
          <p:cNvSpPr/>
          <p:nvPr/>
        </p:nvSpPr>
        <p:spPr>
          <a:xfrm>
            <a:off x="6181344" y="3337560"/>
            <a:ext cx="2615184" cy="2331720"/>
          </a:xfrm>
          <a:prstGeom prst="roundRect">
            <a:avLst>
              <a:gd name="adj" fmla="val 3922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9944" y="353872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Al-Baha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9944" y="3904488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8M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6409944" y="475488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62.8% today · gap 2.2 pts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months to reach 65% on current pace</a:t>
            </a:r>
            <a:endParaRPr lang="en-US" sz="1250" dirty="0"/>
          </a:p>
        </p:txBody>
      </p:sp>
      <p:sp>
        <p:nvSpPr>
          <p:cNvPr id="31" name="Card Jazan"/>
          <p:cNvSpPr/>
          <p:nvPr/>
        </p:nvSpPr>
        <p:spPr>
          <a:xfrm>
            <a:off x="8997696" y="3337560"/>
            <a:ext cx="2615184" cy="2331720"/>
          </a:xfrm>
          <a:prstGeom prst="roundRect">
            <a:avLst>
              <a:gd name="adj" fmla="val 3922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26296" y="353872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Jazan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226296" y="3904488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8M</a:t>
            </a:r>
            <a:endParaRPr lang="en-US" sz="4000" dirty="0"/>
          </a:p>
        </p:txBody>
      </p:sp>
      <p:sp>
        <p:nvSpPr>
          <p:cNvPr id="34" name="Text 32"/>
          <p:cNvSpPr txBox="1"/>
          <p:nvPr/>
        </p:nvSpPr>
        <p:spPr>
          <a:xfrm>
            <a:off x="9226296" y="475488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63.0% today · gap 2.0 pts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months to reach 65% on current pace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338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20M now  ·  SAR 20M after a June 2026 checkpoint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5833872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Almutairi  ·  Abdulwahab Alnassar  ·  Firas Alnasser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 Ask"/>
          <p:cNvSpPr/>
          <p:nvPr/>
        </p:nvSpPr>
        <p:spPr>
          <a:xfrm>
            <a:off x="4782312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82312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850" dirty="0"/>
          </a:p>
        </p:txBody>
      </p:sp>
      <p:sp>
        <p:nvSpPr>
          <p:cNvPr id="4" name="Tracker Situation"/>
          <p:cNvSpPr/>
          <p:nvPr/>
        </p:nvSpPr>
        <p:spPr>
          <a:xfrm>
            <a:off x="5769864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E8692B"/>
          </a:solidFill>
          <a:ln w="12700">
            <a:solidFill>
              <a:srgbClr val="E86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9864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850" dirty="0"/>
          </a:p>
        </p:txBody>
      </p:sp>
      <p:sp>
        <p:nvSpPr>
          <p:cNvPr id="6" name="Tracker Complication"/>
          <p:cNvSpPr/>
          <p:nvPr/>
        </p:nvSpPr>
        <p:spPr>
          <a:xfrm>
            <a:off x="6757416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57416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850" dirty="0"/>
          </a:p>
        </p:txBody>
      </p:sp>
      <p:sp>
        <p:nvSpPr>
          <p:cNvPr id="8" name="Tracker Evidence"/>
          <p:cNvSpPr/>
          <p:nvPr/>
        </p:nvSpPr>
        <p:spPr>
          <a:xfrm>
            <a:off x="7744968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44968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50" dirty="0"/>
          </a:p>
        </p:txBody>
      </p:sp>
      <p:sp>
        <p:nvSpPr>
          <p:cNvPr id="10" name="Tracker Options"/>
          <p:cNvSpPr/>
          <p:nvPr/>
        </p:nvSpPr>
        <p:spPr>
          <a:xfrm>
            <a:off x="8732520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32520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850" dirty="0"/>
          </a:p>
        </p:txBody>
      </p:sp>
      <p:sp>
        <p:nvSpPr>
          <p:cNvPr id="12" name="Tracker Recommendation"/>
          <p:cNvSpPr/>
          <p:nvPr/>
        </p:nvSpPr>
        <p:spPr>
          <a:xfrm>
            <a:off x="9720072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20072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14" name="Tracker Next step"/>
          <p:cNvSpPr/>
          <p:nvPr/>
        </p:nvSpPr>
        <p:spPr>
          <a:xfrm>
            <a:off x="10707624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07624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9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·  NATIONAL STATUS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74980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Nationally, Tayseer is on track: 66.2% digital adoption, above the 65% target since August 2025</a:t>
            </a:r>
            <a:endParaRPr lang="en-US" sz="2800" dirty="0"/>
          </a:p>
        </p:txBody>
      </p:sp>
      <p:graphicFrame>
        <p:nvGraphicFramePr>
          <p:cNvPr id="18" name="National trend chart" descr=""/>
          <p:cNvGraphicFramePr/>
          <p:nvPr/>
        </p:nvGraphicFramePr>
        <p:xfrm>
          <a:off x="411480" y="1920240"/>
          <a:ext cx="80010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65% target line"/>
          <p:cNvSpPr/>
          <p:nvPr/>
        </p:nvSpPr>
        <p:spPr>
          <a:xfrm>
            <a:off x="1051560" y="2838869"/>
            <a:ext cx="7200900" cy="0"/>
          </a:xfrm>
          <a:prstGeom prst="line">
            <a:avLst/>
          </a:prstGeom>
          <a:noFill/>
          <a:ln w="25400">
            <a:solidFill>
              <a:srgbClr val="E8692B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1143000" y="2527973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target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377940" y="218831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2025: 66.2%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732520" y="1920240"/>
            <a:ext cx="2907792" cy="1325880"/>
          </a:xfrm>
          <a:prstGeom prst="roundRect">
            <a:avLst>
              <a:gd name="adj" fmla="val 55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61120" y="2084832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66.2%</a:t>
            </a:r>
            <a:endParaRPr lang="en-US" sz="3400" dirty="0"/>
          </a:p>
        </p:txBody>
      </p:sp>
      <p:sp>
        <p:nvSpPr>
          <p:cNvPr id="24" name="Text 21"/>
          <p:cNvSpPr txBox="1"/>
          <p:nvPr/>
        </p:nvSpPr>
        <p:spPr>
          <a:xfrm>
            <a:off x="8961120" y="276148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adoption, Dec 2025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732520" y="3429000"/>
            <a:ext cx="2907792" cy="1325880"/>
          </a:xfrm>
          <a:prstGeom prst="roundRect">
            <a:avLst>
              <a:gd name="adj" fmla="val 55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961120" y="3593592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+2.9 pts</a:t>
            </a:r>
            <a:endParaRPr lang="en-US" sz="3400" dirty="0"/>
          </a:p>
        </p:txBody>
      </p:sp>
      <p:sp>
        <p:nvSpPr>
          <p:cNvPr id="27" name="Text 24"/>
          <p:cNvSpPr txBox="1"/>
          <p:nvPr/>
        </p:nvSpPr>
        <p:spPr>
          <a:xfrm>
            <a:off x="8961120" y="427024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Dec 2024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732520" y="4937760"/>
            <a:ext cx="2907792" cy="1325880"/>
          </a:xfrm>
          <a:prstGeom prst="roundRect">
            <a:avLst>
              <a:gd name="adj" fmla="val 55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961120" y="5102352"/>
            <a:ext cx="2450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2025</a:t>
            </a:r>
            <a:endParaRPr lang="en-US" sz="3400" dirty="0"/>
          </a:p>
        </p:txBody>
      </p:sp>
      <p:sp>
        <p:nvSpPr>
          <p:cNvPr id="30" name="Text 27"/>
          <p:cNvSpPr txBox="1"/>
          <p:nvPr/>
        </p:nvSpPr>
        <p:spPr>
          <a:xfrm>
            <a:off x="8961120" y="577900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the 65% target was crossed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6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 Ask"/>
          <p:cNvSpPr/>
          <p:nvPr/>
        </p:nvSpPr>
        <p:spPr>
          <a:xfrm>
            <a:off x="4782312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82312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850" dirty="0"/>
          </a:p>
        </p:txBody>
      </p:sp>
      <p:sp>
        <p:nvSpPr>
          <p:cNvPr id="4" name="Tracker Situation"/>
          <p:cNvSpPr/>
          <p:nvPr/>
        </p:nvSpPr>
        <p:spPr>
          <a:xfrm>
            <a:off x="5769864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9864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850" dirty="0"/>
          </a:p>
        </p:txBody>
      </p:sp>
      <p:sp>
        <p:nvSpPr>
          <p:cNvPr id="6" name="Tracker Complication"/>
          <p:cNvSpPr/>
          <p:nvPr/>
        </p:nvSpPr>
        <p:spPr>
          <a:xfrm>
            <a:off x="6757416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E8692B"/>
          </a:solidFill>
          <a:ln w="12700">
            <a:solidFill>
              <a:srgbClr val="E869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57416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850" dirty="0"/>
          </a:p>
        </p:txBody>
      </p:sp>
      <p:sp>
        <p:nvSpPr>
          <p:cNvPr id="8" name="Tracker Evidence"/>
          <p:cNvSpPr/>
          <p:nvPr/>
        </p:nvSpPr>
        <p:spPr>
          <a:xfrm>
            <a:off x="7744968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44968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50" dirty="0"/>
          </a:p>
        </p:txBody>
      </p:sp>
      <p:sp>
        <p:nvSpPr>
          <p:cNvPr id="10" name="Tracker Options"/>
          <p:cNvSpPr/>
          <p:nvPr/>
        </p:nvSpPr>
        <p:spPr>
          <a:xfrm>
            <a:off x="8732520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32520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850" dirty="0"/>
          </a:p>
        </p:txBody>
      </p:sp>
      <p:sp>
        <p:nvSpPr>
          <p:cNvPr id="12" name="Tracker Recommendation"/>
          <p:cNvSpPr/>
          <p:nvPr/>
        </p:nvSpPr>
        <p:spPr>
          <a:xfrm>
            <a:off x="9720072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20072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14" name="Tracker Next step"/>
          <p:cNvSpPr/>
          <p:nvPr/>
        </p:nvSpPr>
        <p:spPr>
          <a:xfrm>
            <a:off x="10707624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07624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9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  ·  REGIONAL GAP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74980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8 of 13 regions are still below 65%, and the national average hides them</a:t>
            </a:r>
            <a:endParaRPr lang="en-US" sz="2800" dirty="0"/>
          </a:p>
        </p:txBody>
      </p:sp>
      <p:sp>
        <p:nvSpPr>
          <p:cNvPr id="18" name="65% target"/>
          <p:cNvSpPr/>
          <p:nvPr/>
        </p:nvSpPr>
        <p:spPr>
          <a:xfrm>
            <a:off x="5485862" y="2021281"/>
            <a:ext cx="0" cy="3610051"/>
          </a:xfrm>
          <a:prstGeom prst="line">
            <a:avLst/>
          </a:prstGeom>
          <a:noFill/>
          <a:ln w="22225">
            <a:solidFill>
              <a:srgbClr val="1B2A41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4571462" y="174696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target</a:t>
            </a:r>
            <a:endParaRPr lang="en-US" sz="1100" dirty="0"/>
          </a:p>
        </p:txBody>
      </p:sp>
      <p:graphicFrame>
        <p:nvGraphicFramePr>
          <p:cNvPr id="20" name="Regional adoption chart" descr=""/>
          <p:cNvGraphicFramePr/>
          <p:nvPr/>
        </p:nvGraphicFramePr>
        <p:xfrm>
          <a:off x="411480" y="2011680"/>
          <a:ext cx="81381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48640" y="611733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E8692B"/>
          </a:solidFill>
          <a:ln w="12700">
            <a:solidFill>
              <a:srgbClr val="E869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4672" y="60533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947672" y="611733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B7BEC8"/>
          </a:solidFill>
          <a:ln w="12700">
            <a:solidFill>
              <a:srgbClr val="B7BEC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203704" y="60533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/ above target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915400" y="2057400"/>
            <a:ext cx="2724912" cy="1325880"/>
          </a:xfrm>
          <a:prstGeom prst="roundRect">
            <a:avLst>
              <a:gd name="adj" fmla="val 5517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0" y="2221992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regions</a:t>
            </a:r>
            <a:endParaRPr lang="en-US" sz="34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0" y="28986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65% target in Dec 2025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915400" y="3520440"/>
            <a:ext cx="2724912" cy="1325880"/>
          </a:xfrm>
          <a:prstGeom prst="roundRect">
            <a:avLst>
              <a:gd name="adj" fmla="val 5517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0" y="3685032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60.9%</a:t>
            </a:r>
            <a:endParaRPr lang="en-US" sz="3400" dirty="0"/>
          </a:p>
        </p:txBody>
      </p:sp>
      <p:sp>
        <p:nvSpPr>
          <p:cNvPr id="30" name="Text 27"/>
          <p:cNvSpPr txBox="1"/>
          <p:nvPr/>
        </p:nvSpPr>
        <p:spPr>
          <a:xfrm>
            <a:off x="9144000" y="436168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Najran, the lowest region, 4.1 pts short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915400" y="4983480"/>
            <a:ext cx="2724912" cy="1280160"/>
          </a:xfrm>
          <a:prstGeom prst="roundRect">
            <a:avLst>
              <a:gd name="adj" fmla="val 571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0" y="5148072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regions</a:t>
            </a:r>
            <a:endParaRPr lang="en-US" sz="3400" dirty="0"/>
          </a:p>
        </p:txBody>
      </p:sp>
      <p:sp>
        <p:nvSpPr>
          <p:cNvPr id="33" name="Text 30"/>
          <p:cNvSpPr txBox="1"/>
          <p:nvPr/>
        </p:nvSpPr>
        <p:spPr>
          <a:xfrm>
            <a:off x="9144000" y="582472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regions carry the national average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6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 Ask"/>
          <p:cNvSpPr/>
          <p:nvPr/>
        </p:nvSpPr>
        <p:spPr>
          <a:xfrm>
            <a:off x="4782312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82312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850" dirty="0"/>
          </a:p>
        </p:txBody>
      </p:sp>
      <p:sp>
        <p:nvSpPr>
          <p:cNvPr id="4" name="Tracker Situation"/>
          <p:cNvSpPr/>
          <p:nvPr/>
        </p:nvSpPr>
        <p:spPr>
          <a:xfrm>
            <a:off x="5769864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9864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850" dirty="0"/>
          </a:p>
        </p:txBody>
      </p:sp>
      <p:sp>
        <p:nvSpPr>
          <p:cNvPr id="6" name="Tracker Complication"/>
          <p:cNvSpPr/>
          <p:nvPr/>
        </p:nvSpPr>
        <p:spPr>
          <a:xfrm>
            <a:off x="6757416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57416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850" dirty="0"/>
          </a:p>
        </p:txBody>
      </p:sp>
      <p:sp>
        <p:nvSpPr>
          <p:cNvPr id="8" name="Tracker Evidence"/>
          <p:cNvSpPr/>
          <p:nvPr/>
        </p:nvSpPr>
        <p:spPr>
          <a:xfrm>
            <a:off x="7744968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E8692B"/>
          </a:solidFill>
          <a:ln w="12700">
            <a:solidFill>
              <a:srgbClr val="E86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44968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50" dirty="0"/>
          </a:p>
        </p:txBody>
      </p:sp>
      <p:sp>
        <p:nvSpPr>
          <p:cNvPr id="10" name="Tracker Options"/>
          <p:cNvSpPr/>
          <p:nvPr/>
        </p:nvSpPr>
        <p:spPr>
          <a:xfrm>
            <a:off x="8732520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32520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850" dirty="0"/>
          </a:p>
        </p:txBody>
      </p:sp>
      <p:sp>
        <p:nvSpPr>
          <p:cNvPr id="12" name="Tracker Recommendation"/>
          <p:cNvSpPr/>
          <p:nvPr/>
        </p:nvSpPr>
        <p:spPr>
          <a:xfrm>
            <a:off x="9720072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20072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14" name="Tracker Next step"/>
          <p:cNvSpPr/>
          <p:nvPr/>
        </p:nvSpPr>
        <p:spPr>
          <a:xfrm>
            <a:off x="10707624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07624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9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WHICH GAPS MATTER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74980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regions will reach 65% on their own within 3 months; four will not, and Najran needs 21</a:t>
            </a:r>
            <a:endParaRPr lang="en-US" sz="2800" dirty="0"/>
          </a:p>
        </p:txBody>
      </p:sp>
      <p:sp>
        <p:nvSpPr>
          <p:cNvPr id="18" name="6-month line"/>
          <p:cNvSpPr/>
          <p:nvPr/>
        </p:nvSpPr>
        <p:spPr>
          <a:xfrm>
            <a:off x="3503981" y="2021281"/>
            <a:ext cx="0" cy="3610051"/>
          </a:xfrm>
          <a:prstGeom prst="line">
            <a:avLst/>
          </a:prstGeom>
          <a:noFill/>
          <a:ln w="22225">
            <a:solidFill>
              <a:srgbClr val="1B2A41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2589581" y="174696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line</a:t>
            </a:r>
            <a:endParaRPr lang="en-US" sz="1100" dirty="0"/>
          </a:p>
        </p:txBody>
      </p:sp>
      <p:graphicFrame>
        <p:nvGraphicFramePr>
          <p:cNvPr id="20" name="Months to target chart" descr=""/>
          <p:cNvGraphicFramePr/>
          <p:nvPr/>
        </p:nvGraphicFramePr>
        <p:xfrm>
          <a:off x="411480" y="2011680"/>
          <a:ext cx="81381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48640" y="611733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E8692B"/>
          </a:solidFill>
          <a:ln w="12700">
            <a:solidFill>
              <a:srgbClr val="E869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4672" y="60533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funding: more than 6 months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387852" y="611733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B7BEC8"/>
          </a:solidFill>
          <a:ln w="12700">
            <a:solidFill>
              <a:srgbClr val="B7BEC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43884" y="60533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65% on its own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915400" y="2057400"/>
            <a:ext cx="2724912" cy="4206240"/>
          </a:xfrm>
          <a:prstGeom prst="roundRect">
            <a:avLst>
              <a:gd name="adj" fmla="val 268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0" y="224028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gap sits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0" y="265176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56.8%</a:t>
            </a:r>
            <a:endParaRPr lang="en-US" sz="40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0" y="333756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digital adoption in the four priority regions, vs 62.1% nationally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144000" y="4206240"/>
            <a:ext cx="2267712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0" y="4389120"/>
            <a:ext cx="22677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+0.19 pts / month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Najran's pace: the slowest of any region, with the biggest gap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6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 Ask"/>
          <p:cNvSpPr/>
          <p:nvPr/>
        </p:nvSpPr>
        <p:spPr>
          <a:xfrm>
            <a:off x="4782312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82312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850" dirty="0"/>
          </a:p>
        </p:txBody>
      </p:sp>
      <p:sp>
        <p:nvSpPr>
          <p:cNvPr id="4" name="Tracker Situation"/>
          <p:cNvSpPr/>
          <p:nvPr/>
        </p:nvSpPr>
        <p:spPr>
          <a:xfrm>
            <a:off x="5769864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9864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850" dirty="0"/>
          </a:p>
        </p:txBody>
      </p:sp>
      <p:sp>
        <p:nvSpPr>
          <p:cNvPr id="6" name="Tracker Complication"/>
          <p:cNvSpPr/>
          <p:nvPr/>
        </p:nvSpPr>
        <p:spPr>
          <a:xfrm>
            <a:off x="6757416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57416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850" dirty="0"/>
          </a:p>
        </p:txBody>
      </p:sp>
      <p:sp>
        <p:nvSpPr>
          <p:cNvPr id="8" name="Tracker Evidence"/>
          <p:cNvSpPr/>
          <p:nvPr/>
        </p:nvSpPr>
        <p:spPr>
          <a:xfrm>
            <a:off x="7744968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44968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50" dirty="0"/>
          </a:p>
        </p:txBody>
      </p:sp>
      <p:sp>
        <p:nvSpPr>
          <p:cNvPr id="10" name="Tracker Options"/>
          <p:cNvSpPr/>
          <p:nvPr/>
        </p:nvSpPr>
        <p:spPr>
          <a:xfrm>
            <a:off x="8732520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E8692B"/>
          </a:solidFill>
          <a:ln w="12700">
            <a:solidFill>
              <a:srgbClr val="E86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32520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850" dirty="0"/>
          </a:p>
        </p:txBody>
      </p:sp>
      <p:sp>
        <p:nvSpPr>
          <p:cNvPr id="12" name="Tracker Recommendation"/>
          <p:cNvSpPr/>
          <p:nvPr/>
        </p:nvSpPr>
        <p:spPr>
          <a:xfrm>
            <a:off x="9720072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20072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14" name="Tracker Next step"/>
          <p:cNvSpPr/>
          <p:nvPr/>
        </p:nvSpPr>
        <p:spPr>
          <a:xfrm>
            <a:off x="10707624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07624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9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 ·  HOW TO USE SAR 40M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74980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compared three ways to spend SAR 40M; only one aims every riyal at a gap that won't close by itself</a:t>
            </a:r>
            <a:endParaRPr lang="en-US" sz="2800" dirty="0"/>
          </a:p>
        </p:txBody>
      </p:sp>
      <p:sp>
        <p:nvSpPr>
          <p:cNvPr id="18" name="Option A"/>
          <p:cNvSpPr/>
          <p:nvPr/>
        </p:nvSpPr>
        <p:spPr>
          <a:xfrm>
            <a:off x="548640" y="2011680"/>
            <a:ext cx="3547872" cy="4206240"/>
          </a:xfrm>
          <a:prstGeom prst="roundRect">
            <a:avLst>
              <a:gd name="adj" fmla="val 2577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299923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evenly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40156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5M to each of the 8 regions below 65%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160520"/>
            <a:ext cx="2999232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434340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budget (SAR 20M) goes to regions closing in ≤ 3 months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93776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Najran gets only SAR 5M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532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553212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thin to change pace anywhere</a:t>
            </a:r>
            <a:endParaRPr lang="en-US" sz="1300" dirty="0"/>
          </a:p>
        </p:txBody>
      </p:sp>
      <p:sp>
        <p:nvSpPr>
          <p:cNvPr id="30" name="Option B"/>
          <p:cNvSpPr/>
          <p:nvPr/>
        </p:nvSpPr>
        <p:spPr>
          <a:xfrm>
            <a:off x="4306824" y="2011680"/>
            <a:ext cx="3547872" cy="4206240"/>
          </a:xfrm>
          <a:prstGeom prst="roundRect">
            <a:avLst>
              <a:gd name="adj" fmla="val 2577"/>
            </a:avLst>
          </a:prstGeom>
          <a:solidFill>
            <a:srgbClr val="FDEEE6"/>
          </a:solidFill>
          <a:ln w="25400">
            <a:solidFill>
              <a:srgbClr val="E869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81144" y="2286000"/>
            <a:ext cx="548640" cy="548640"/>
          </a:xfrm>
          <a:prstGeom prst="ellipse">
            <a:avLst/>
          </a:prstGeom>
          <a:solidFill>
            <a:srgbClr val="E8692B"/>
          </a:solidFill>
          <a:ln w="12700">
            <a:solidFill>
              <a:srgbClr val="E869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81144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254496" y="239572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692B"/>
          </a:solidFill>
          <a:ln w="12700">
            <a:solidFill>
              <a:srgbClr val="E8692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54496" y="23957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81144" y="299923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4 laggards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4581144" y="340156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40M split across Najran, Northern Borders, Al-Baha, Jazan by gap size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81144" y="4160520"/>
            <a:ext cx="2999232" cy="0"/>
          </a:xfrm>
          <a:prstGeom prst="line">
            <a:avLst/>
          </a:prstGeom>
          <a:noFill/>
          <a:ln w="12700">
            <a:solidFill>
              <a:srgbClr val="F5C3A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81144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901184" y="434340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the budget reaches regions needing 7–21 months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581144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4901184" y="493776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Najran gets SAR 15M, sized to its gap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81144" y="5532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4901184" y="553212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local delivery, so staged with a checkpoint</a:t>
            </a:r>
            <a:endParaRPr lang="en-US" sz="1300" dirty="0"/>
          </a:p>
        </p:txBody>
      </p:sp>
      <p:sp>
        <p:nvSpPr>
          <p:cNvPr id="44" name="Option C"/>
          <p:cNvSpPr/>
          <p:nvPr/>
        </p:nvSpPr>
        <p:spPr>
          <a:xfrm>
            <a:off x="8065008" y="2011680"/>
            <a:ext cx="3547872" cy="4206240"/>
          </a:xfrm>
          <a:prstGeom prst="roundRect">
            <a:avLst>
              <a:gd name="adj" fmla="val 2577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39328" y="2286000"/>
            <a:ext cx="548640" cy="5486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3932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8339328" y="299923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campaign</a:t>
            </a:r>
            <a:endParaRPr lang="en-US" sz="1900" dirty="0"/>
          </a:p>
        </p:txBody>
      </p:sp>
      <p:sp>
        <p:nvSpPr>
          <p:cNvPr id="48" name="Text 46"/>
          <p:cNvSpPr txBox="1"/>
          <p:nvPr/>
        </p:nvSpPr>
        <p:spPr>
          <a:xfrm>
            <a:off x="8339328" y="340156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national push to move branch &amp; call-centre users to app / web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339328" y="4160520"/>
            <a:ext cx="2999232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339328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8659368" y="434340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is already 66%; reach lands in on-target regions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8339328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8659368" y="493776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Lifts the average again, leaves the gaps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8339328" y="5532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8659368" y="553212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run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6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 Ask"/>
          <p:cNvSpPr/>
          <p:nvPr/>
        </p:nvSpPr>
        <p:spPr>
          <a:xfrm>
            <a:off x="4782312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82312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850" dirty="0"/>
          </a:p>
        </p:txBody>
      </p:sp>
      <p:sp>
        <p:nvSpPr>
          <p:cNvPr id="4" name="Tracker Situation"/>
          <p:cNvSpPr/>
          <p:nvPr/>
        </p:nvSpPr>
        <p:spPr>
          <a:xfrm>
            <a:off x="5769864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9864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850" dirty="0"/>
          </a:p>
        </p:txBody>
      </p:sp>
      <p:sp>
        <p:nvSpPr>
          <p:cNvPr id="6" name="Tracker Complication"/>
          <p:cNvSpPr/>
          <p:nvPr/>
        </p:nvSpPr>
        <p:spPr>
          <a:xfrm>
            <a:off x="6757416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57416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850" dirty="0"/>
          </a:p>
        </p:txBody>
      </p:sp>
      <p:sp>
        <p:nvSpPr>
          <p:cNvPr id="8" name="Tracker Evidence"/>
          <p:cNvSpPr/>
          <p:nvPr/>
        </p:nvSpPr>
        <p:spPr>
          <a:xfrm>
            <a:off x="7744968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44968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50" dirty="0"/>
          </a:p>
        </p:txBody>
      </p:sp>
      <p:sp>
        <p:nvSpPr>
          <p:cNvPr id="10" name="Tracker Options"/>
          <p:cNvSpPr/>
          <p:nvPr/>
        </p:nvSpPr>
        <p:spPr>
          <a:xfrm>
            <a:off x="8732520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32520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850" dirty="0"/>
          </a:p>
        </p:txBody>
      </p:sp>
      <p:sp>
        <p:nvSpPr>
          <p:cNvPr id="12" name="Tracker Recommendation"/>
          <p:cNvSpPr/>
          <p:nvPr/>
        </p:nvSpPr>
        <p:spPr>
          <a:xfrm>
            <a:off x="9720072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E8692B"/>
          </a:solidFill>
          <a:ln w="12700">
            <a:solidFill>
              <a:srgbClr val="E86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20072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14" name="Tracker Next step"/>
          <p:cNvSpPr/>
          <p:nvPr/>
        </p:nvSpPr>
        <p:spPr>
          <a:xfrm>
            <a:off x="10707624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07624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9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·  OPTION B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74980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the SAR 40M by gap size and bring all four regions to 65% by December 2026</a:t>
            </a:r>
            <a:endParaRPr lang="en-US" sz="2800" dirty="0"/>
          </a:p>
        </p:txBody>
      </p:sp>
      <p:graphicFrame>
        <p:nvGraphicFramePr>
          <p:cNvPr id="18" name="Allocation doughnut" descr=""/>
          <p:cNvGraphicFramePr/>
          <p:nvPr/>
        </p:nvGraphicFramePr>
        <p:xfrm>
          <a:off x="411480" y="192024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132588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40M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by users to convert</a:t>
            </a:r>
            <a:endParaRPr lang="en-US" sz="3000" dirty="0"/>
          </a:p>
        </p:txBody>
      </p:sp>
      <p:sp>
        <p:nvSpPr>
          <p:cNvPr id="20" name="Shape 17"/>
          <p:cNvSpPr/>
          <p:nvPr/>
        </p:nvSpPr>
        <p:spPr>
          <a:xfrm>
            <a:off x="4754880" y="222199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692B"/>
          </a:solidFill>
          <a:ln w="12700">
            <a:solidFill>
              <a:srgbClr val="E8692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0" y="2148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Najran</a:t>
            </a:r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SAR 15M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754880" y="26974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0915E"/>
          </a:solidFill>
          <a:ln w="12700">
            <a:solidFill>
              <a:srgbClr val="F0915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74920" y="26243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Borders</a:t>
            </a:r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SAR 9M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754880" y="31729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B48E"/>
          </a:solidFill>
          <a:ln w="12700">
            <a:solidFill>
              <a:srgbClr val="F5B48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74920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Al-Baha</a:t>
            </a:r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SAR 8M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754880" y="364845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9D2BB"/>
          </a:solidFill>
          <a:ln w="12700">
            <a:solidFill>
              <a:srgbClr val="F9D2B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74920" y="35753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Jazan</a:t>
            </a:r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SAR 8M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72668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money buys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7726680" y="2395728"/>
            <a:ext cx="420624" cy="42062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2668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321040" y="235915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Digitise the weakest journeys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and Permits first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726680" y="3145536"/>
            <a:ext cx="420624" cy="42062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26680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321040" y="31089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Assisted-digital desks in branches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adoption 53% vs app 75%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726680" y="3895344"/>
            <a:ext cx="420624" cy="42062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26680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321040" y="385876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awareness &amp; onboarding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 the four regions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754880" y="4709160"/>
            <a:ext cx="6885432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983480" y="4846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EFFECT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4983480" y="5120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regions ≥ 65%</a:t>
            </a:r>
            <a:endParaRPr lang="en-US" sz="2600" dirty="0"/>
          </a:p>
        </p:txBody>
      </p:sp>
      <p:sp>
        <p:nvSpPr>
          <p:cNvPr id="41" name="Text 38"/>
          <p:cNvSpPr txBox="1"/>
          <p:nvPr/>
        </p:nvSpPr>
        <p:spPr>
          <a:xfrm>
            <a:off x="7178040" y="5120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2027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Najran at today's pace</a:t>
            </a:r>
            <a:endParaRPr lang="en-US" sz="2600" dirty="0"/>
          </a:p>
        </p:txBody>
      </p:sp>
      <p:sp>
        <p:nvSpPr>
          <p:cNvPr id="42" name="Text 39"/>
          <p:cNvSpPr txBox="1"/>
          <p:nvPr/>
        </p:nvSpPr>
        <p:spPr>
          <a:xfrm>
            <a:off x="9281160" y="5120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 → 0.34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Najran pts / month needed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6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 Ask"/>
          <p:cNvSpPr/>
          <p:nvPr/>
        </p:nvSpPr>
        <p:spPr>
          <a:xfrm>
            <a:off x="4782312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82312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850" dirty="0"/>
          </a:p>
        </p:txBody>
      </p:sp>
      <p:sp>
        <p:nvSpPr>
          <p:cNvPr id="4" name="Tracker Situation"/>
          <p:cNvSpPr/>
          <p:nvPr/>
        </p:nvSpPr>
        <p:spPr>
          <a:xfrm>
            <a:off x="5769864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9864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850" dirty="0"/>
          </a:p>
        </p:txBody>
      </p:sp>
      <p:sp>
        <p:nvSpPr>
          <p:cNvPr id="6" name="Tracker Complication"/>
          <p:cNvSpPr/>
          <p:nvPr/>
        </p:nvSpPr>
        <p:spPr>
          <a:xfrm>
            <a:off x="6757416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57416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850" dirty="0"/>
          </a:p>
        </p:txBody>
      </p:sp>
      <p:sp>
        <p:nvSpPr>
          <p:cNvPr id="8" name="Tracker Evidence"/>
          <p:cNvSpPr/>
          <p:nvPr/>
        </p:nvSpPr>
        <p:spPr>
          <a:xfrm>
            <a:off x="7744968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44968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850" dirty="0"/>
          </a:p>
        </p:txBody>
      </p:sp>
      <p:sp>
        <p:nvSpPr>
          <p:cNvPr id="10" name="Tracker Options"/>
          <p:cNvSpPr/>
          <p:nvPr/>
        </p:nvSpPr>
        <p:spPr>
          <a:xfrm>
            <a:off x="8732520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32520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850" dirty="0"/>
          </a:p>
        </p:txBody>
      </p:sp>
      <p:sp>
        <p:nvSpPr>
          <p:cNvPr id="12" name="Tracker Recommendation"/>
          <p:cNvSpPr/>
          <p:nvPr/>
        </p:nvSpPr>
        <p:spPr>
          <a:xfrm>
            <a:off x="9720072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20072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14" name="Tracker Next step"/>
          <p:cNvSpPr/>
          <p:nvPr/>
        </p:nvSpPr>
        <p:spPr>
          <a:xfrm>
            <a:off x="10707624" y="347472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E8692B"/>
          </a:solidFill>
          <a:ln w="12700">
            <a:solidFill>
              <a:srgbClr val="E86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07624" y="34747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9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·  NEXT STEP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74980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SAR 40M today, released in two tranches with a June 2026 checkpoint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822960" y="2514600"/>
            <a:ext cx="10515600" cy="0"/>
          </a:xfrm>
          <a:prstGeom prst="line">
            <a:avLst/>
          </a:prstGeom>
          <a:noFill/>
          <a:ln w="25400">
            <a:solidFill>
              <a:srgbClr val="3A5A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" y="2359152"/>
            <a:ext cx="310896" cy="310896"/>
          </a:xfrm>
          <a:prstGeom prst="ellipse">
            <a:avLst/>
          </a:prstGeom>
          <a:solidFill>
            <a:srgbClr val="E8692B"/>
          </a:solidFill>
          <a:ln w="12700">
            <a:solidFill>
              <a:srgbClr val="E86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1892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7889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SAR 40M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tranche 1: SAR 20M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172712" y="23591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93720" y="1892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– Q2 2026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093720" y="27889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&amp; Permits fixes, branch desks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77912" y="2359152"/>
            <a:ext cx="310896" cy="310896"/>
          </a:xfrm>
          <a:prstGeom prst="ellipse">
            <a:avLst/>
          </a:prstGeom>
          <a:solidFill>
            <a:srgbClr val="E8692B"/>
          </a:solidFill>
          <a:ln w="12700">
            <a:solidFill>
              <a:srgbClr val="E86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98920" y="1892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598920" y="27889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region ≥ halfway to 65% → tranche 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183112" y="23591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71432" y="1892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E8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171432" y="27889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6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regions ≥ 65%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checkpoint: halfway to 65%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15968"/>
          <a:ext cx="67665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920240"/>
                <a:gridCol w="128016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A3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8FA3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8FA3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reach by Jun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8FA3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AFC0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86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62.9%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7.5M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Northern Borders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AFC0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86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63.9%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4.5M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Al-Baha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AFC0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86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63.9%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4.0M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Jazan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AFC0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86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64.0%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 4.0M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4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7726680" y="3931920"/>
            <a:ext cx="3913632" cy="2148840"/>
          </a:xfrm>
          <a:prstGeom prst="roundRect">
            <a:avLst>
              <a:gd name="adj" fmla="val 4255"/>
            </a:avLst>
          </a:prstGeom>
          <a:solidFill>
            <a:srgbClr val="E8692B"/>
          </a:solidFill>
          <a:ln w="12700">
            <a:solidFill>
              <a:srgbClr val="E8692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01000" y="4096512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today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SAR 40M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Nationally we hit 65%. This makes sure every region does.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Tayseer Digital Adoption: Where the next SAR 40M should go</dc:title>
  <dc:subject>PptxGenJS Presentation</dc:subject>
  <dc:creator>Yousef Almutairi, Abdulwahab Alnassar, Firas Alnasser</dc:creator>
  <cp:lastModifiedBy>Yousef Almutairi, Abdulwahab Alnassar, Firas Alnasser</cp:lastModifiedBy>
  <cp:revision>1</cp:revision>
  <dcterms:created xsi:type="dcterms:W3CDTF">2026-10-06T19:38:59Z</dcterms:created>
  <dcterms:modified xsi:type="dcterms:W3CDTF">2026-10-06T19:38:59Z</dcterms:modified>
</cp:coreProperties>
</file>